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КОММЕРЧЕСКОЕ ПРЕДЛОЖЕНИЕ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01</a:t>
            </a:r>
            <a:endParaRPr lang="ru-RU" sz="1000"/>
          </a:p>
        </p:txBody>
      </p:sp>
      <p:sp>
        <p:nvSpPr>
          <p:cNvPr id="7" name="Shape 7"/>
          <p:cNvSpPr/>
          <p:nvPr/>
        </p:nvSpPr>
        <p:spPr>
          <a:xfrm>
            <a:off x="7086600" y="0"/>
            <a:ext cx="5102352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7909560" y="914400"/>
            <a:ext cx="2788920" cy="4297680"/>
          </a:xfrm>
          <a:prstGeom prst="rect">
            <a:avLst/>
          </a:prstGeom>
          <a:solidFill>
            <a:srgbClr val="243044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8229600" y="1234440"/>
            <a:ext cx="2148840" cy="256032"/>
          </a:xfrm>
          <a:prstGeom prst="rect">
            <a:avLst/>
          </a:prstGeom>
          <a:solidFill>
            <a:srgbClr val="FFF9F0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8229600" y="1755648"/>
            <a:ext cx="868680" cy="1143000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9281160" y="1755648"/>
            <a:ext cx="1097280" cy="1143000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8229600" y="3154680"/>
            <a:ext cx="2148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8229600" y="3675887"/>
            <a:ext cx="2148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613648" y="4434840"/>
            <a:ext cx="1371600" cy="347472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66928" y="1371600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5500" b="1">
                <a:solidFill>
                  <a:srgbClr val="121826"/>
                </a:solidFill>
                <a:latin typeface="Georgia"/>
                <a:cs typeface="Georgia"/>
              </a:rPr>
              <a:t>CloudMarket</a:t>
            </a:r>
            <a:endParaRPr lang="ru-RU" sz="5500"/>
          </a:p>
        </p:txBody>
      </p:sp>
      <p:sp>
        <p:nvSpPr>
          <p:cNvPr id="16" name="Text 16"/>
          <p:cNvSpPr txBox="1"/>
          <p:nvPr/>
        </p:nvSpPr>
        <p:spPr>
          <a:xfrm>
            <a:off x="603504" y="221284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176B87"/>
                </a:solidFill>
                <a:latin typeface="Arial"/>
                <a:cs typeface="Arial"/>
              </a:rPr>
              <a:t>готовая основа для онлайн-магазина одежды</a:t>
            </a:r>
            <a:endParaRPr lang="ru-RU" sz="2200"/>
          </a:p>
        </p:txBody>
      </p:sp>
      <p:sp>
        <p:nvSpPr>
          <p:cNvPr id="17" name="Text 17"/>
          <p:cNvSpPr txBox="1"/>
          <p:nvPr/>
        </p:nvSpPr>
        <p:spPr>
          <a:xfrm>
            <a:off x="603504" y="2944368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667085"/>
                </a:solidFill>
                <a:latin typeface="Arial"/>
                <a:cs typeface="Arial"/>
              </a:rPr>
              <a:t>Проект можно продавать как стартовую e-commerce платформу: витрина, каталог, карточки товаров, личный кабинет, корзина и платежный сценарий уже собраны в единую систему.</a:t>
            </a:r>
            <a:endParaRPr lang="ru-RU" sz="1500"/>
          </a:p>
        </p:txBody>
      </p:sp>
      <p:sp>
        <p:nvSpPr>
          <p:cNvPr id="18" name="Shape 18"/>
          <p:cNvSpPr/>
          <p:nvPr/>
        </p:nvSpPr>
        <p:spPr>
          <a:xfrm>
            <a:off x="658368" y="4645152"/>
            <a:ext cx="36576" cy="5303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786384" y="462686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MVP</a:t>
            </a:r>
            <a:endParaRPr lang="ru-RU" sz="2400"/>
          </a:p>
        </p:txBody>
      </p:sp>
      <p:sp>
        <p:nvSpPr>
          <p:cNvPr id="20" name="Text 20"/>
          <p:cNvSpPr txBox="1"/>
          <p:nvPr/>
        </p:nvSpPr>
        <p:spPr>
          <a:xfrm>
            <a:off x="786384" y="497433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можно показать заказчику</a:t>
            </a:r>
            <a:endParaRPr lang="ru-RU" sz="900"/>
          </a:p>
        </p:txBody>
      </p:sp>
      <p:sp>
        <p:nvSpPr>
          <p:cNvPr id="21" name="Shape 21"/>
          <p:cNvSpPr/>
          <p:nvPr/>
        </p:nvSpPr>
        <p:spPr>
          <a:xfrm>
            <a:off x="2761488" y="4645152"/>
            <a:ext cx="36576" cy="5303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2889504" y="462686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Fullstack</a:t>
            </a:r>
            <a:endParaRPr lang="ru-RU" sz="2400"/>
          </a:p>
        </p:txBody>
      </p:sp>
      <p:sp>
        <p:nvSpPr>
          <p:cNvPr id="23" name="Text 23"/>
          <p:cNvSpPr txBox="1"/>
          <p:nvPr/>
        </p:nvSpPr>
        <p:spPr>
          <a:xfrm>
            <a:off x="2889504" y="497433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frontend + backend + БД</a:t>
            </a:r>
            <a:endParaRPr lang="ru-RU" sz="900"/>
          </a:p>
        </p:txBody>
      </p:sp>
      <p:sp>
        <p:nvSpPr>
          <p:cNvPr id="24" name="Shape 24"/>
          <p:cNvSpPr/>
          <p:nvPr/>
        </p:nvSpPr>
        <p:spPr>
          <a:xfrm>
            <a:off x="4983480" y="4645152"/>
            <a:ext cx="36576" cy="530352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111496" y="462686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Deploy</a:t>
            </a:r>
            <a:endParaRPr lang="ru-RU" sz="2400"/>
          </a:p>
        </p:txBody>
      </p:sp>
      <p:sp>
        <p:nvSpPr>
          <p:cNvPr id="26" name="Text 26"/>
          <p:cNvSpPr txBox="1"/>
          <p:nvPr/>
        </p:nvSpPr>
        <p:spPr>
          <a:xfrm>
            <a:off x="5111496" y="497433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готовность к запуску</a:t>
            </a:r>
            <a:endParaRPr lang="ru-RU" sz="900"/>
          </a:p>
        </p:txBody>
      </p:sp>
      <p:sp>
        <p:nvSpPr>
          <p:cNvPr id="27" name="Shape 27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Позиционирование: продаем не код, а готовый старт магазина</a:t>
            </a:r>
            <a:endParaRPr lang="ru-RU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ПРОБЛЕМА РЫНКА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02</a:t>
            </a:r>
            <a:endParaRPr lang="ru-RU" sz="1000"/>
          </a:p>
        </p:txBody>
      </p:sp>
      <p:sp>
        <p:nvSpPr>
          <p:cNvPr id="7" name="Text 7"/>
          <p:cNvSpPr txBox="1"/>
          <p:nvPr/>
        </p:nvSpPr>
        <p:spPr>
          <a:xfrm>
            <a:off x="548640" y="749808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21826"/>
                </a:solidFill>
                <a:latin typeface="Georgia"/>
                <a:cs typeface="Georgia"/>
              </a:rPr>
              <a:t>Малому бренду нужен магазин быстрее, чем команда успеет написать его с нуля.</a:t>
            </a:r>
            <a:endParaRPr lang="ru-RU" sz="3400"/>
          </a:p>
        </p:txBody>
      </p:sp>
      <p:sp>
        <p:nvSpPr>
          <p:cNvPr id="8" name="Text 8"/>
          <p:cNvSpPr txBox="1"/>
          <p:nvPr/>
        </p:nvSpPr>
        <p:spPr>
          <a:xfrm>
            <a:off x="566928" y="1700784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>
                <a:solidFill>
                  <a:srgbClr val="667085"/>
                </a:solidFill>
                <a:latin typeface="Arial"/>
                <a:cs typeface="Arial"/>
              </a:rPr>
              <a:t>Типичная боль заказчика: товары есть, бренд есть, но продажи завязаны на соцсети, сообщения вручную и разрозненные инструменты.</a:t>
            </a:r>
            <a:endParaRPr lang="ru-RU" sz="1400"/>
          </a:p>
        </p:txBody>
      </p:sp>
      <p:sp>
        <p:nvSpPr>
          <p:cNvPr id="9" name="Shape 9"/>
          <p:cNvSpPr/>
          <p:nvPr/>
        </p:nvSpPr>
        <p:spPr>
          <a:xfrm>
            <a:off x="713232" y="2743200"/>
            <a:ext cx="31089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13232" y="2743200"/>
            <a:ext cx="64008" cy="987552"/>
          </a:xfrm>
          <a:prstGeom prst="rect">
            <a:avLst/>
          </a:prstGeom>
          <a:solidFill>
            <a:srgbClr val="B54708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96112" y="290779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Запуск затягивается</a:t>
            </a:r>
            <a:endParaRPr lang="ru-RU" sz="1600"/>
          </a:p>
        </p:txBody>
      </p:sp>
      <p:sp>
        <p:nvSpPr>
          <p:cNvPr id="12" name="Text 12"/>
          <p:cNvSpPr txBox="1"/>
          <p:nvPr/>
        </p:nvSpPr>
        <p:spPr>
          <a:xfrm>
            <a:off x="896112" y="321868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Разработка с нуля требует времени на каталог, API, авторизацию, корзину и деплой.</a:t>
            </a:r>
            <a:endParaRPr lang="ru-RU" sz="1000"/>
          </a:p>
        </p:txBody>
      </p:sp>
      <p:sp>
        <p:nvSpPr>
          <p:cNvPr id="13" name="Shape 13"/>
          <p:cNvSpPr/>
          <p:nvPr/>
        </p:nvSpPr>
        <p:spPr>
          <a:xfrm>
            <a:off x="4526280" y="2743200"/>
            <a:ext cx="31089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26280" y="2743200"/>
            <a:ext cx="64008" cy="9875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709160" y="290779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Продажи выглядят несистемно</a:t>
            </a:r>
            <a:endParaRPr lang="ru-RU" sz="1600"/>
          </a:p>
        </p:txBody>
      </p:sp>
      <p:sp>
        <p:nvSpPr>
          <p:cNvPr id="16" name="Text 16"/>
          <p:cNvSpPr txBox="1"/>
          <p:nvPr/>
        </p:nvSpPr>
        <p:spPr>
          <a:xfrm>
            <a:off x="4709160" y="321868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Без сайта сложнее красиво показать ассортимент, размеры, цены и историю бренда.</a:t>
            </a:r>
            <a:endParaRPr lang="ru-RU" sz="1000"/>
          </a:p>
        </p:txBody>
      </p:sp>
      <p:sp>
        <p:nvSpPr>
          <p:cNvPr id="17" name="Shape 17"/>
          <p:cNvSpPr/>
          <p:nvPr/>
        </p:nvSpPr>
        <p:spPr>
          <a:xfrm>
            <a:off x="8339327" y="2743200"/>
            <a:ext cx="31089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339327" y="2743200"/>
            <a:ext cx="64008" cy="9875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522207" y="290779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Нет основы для роста</a:t>
            </a:r>
            <a:endParaRPr lang="ru-RU" sz="1600"/>
          </a:p>
        </p:txBody>
      </p:sp>
      <p:sp>
        <p:nvSpPr>
          <p:cNvPr id="20" name="Text 20"/>
          <p:cNvSpPr txBox="1"/>
          <p:nvPr/>
        </p:nvSpPr>
        <p:spPr>
          <a:xfrm>
            <a:off x="8522207" y="321868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Когда нет архитектуры, трудно добавить оплату, заказы, аналитику или админ-панель.</a:t>
            </a:r>
            <a:endParaRPr lang="ru-RU" sz="1000"/>
          </a:p>
        </p:txBody>
      </p:sp>
      <p:sp>
        <p:nvSpPr>
          <p:cNvPr id="21" name="Shape 21"/>
          <p:cNvSpPr/>
          <p:nvPr/>
        </p:nvSpPr>
        <p:spPr>
          <a:xfrm>
            <a:off x="1078992" y="4526280"/>
            <a:ext cx="9784080" cy="658368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417320" y="46908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 b="1">
                <a:solidFill>
                  <a:srgbClr val="CBD5E1"/>
                </a:solidFill>
                <a:latin typeface="Arial"/>
                <a:cs typeface="Arial"/>
              </a:rPr>
              <a:t>Что продаем</a:t>
            </a:r>
            <a:endParaRPr lang="ru-RU" sz="1100"/>
          </a:p>
        </p:txBody>
      </p:sp>
      <p:sp>
        <p:nvSpPr>
          <p:cNvPr id="23" name="Text 23"/>
          <p:cNvSpPr txBox="1"/>
          <p:nvPr/>
        </p:nvSpPr>
        <p:spPr>
          <a:xfrm>
            <a:off x="2743200" y="464515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FFFFFF"/>
                </a:solidFill>
                <a:latin typeface="Arial"/>
                <a:cs typeface="Arial"/>
              </a:rPr>
              <a:t>CloudMarket сокращает путь от идеи магазина до демонстрируемого продукта: заказчик получает не макет, а работающую fullstack-основу.</a:t>
            </a:r>
            <a:endParaRPr lang="ru-RU" sz="1600"/>
          </a:p>
        </p:txBody>
      </p:sp>
      <p:sp>
        <p:nvSpPr>
          <p:cNvPr id="24" name="Shape 24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CloudMarket sales pitch</a:t>
            </a:r>
            <a:endParaRPr lang="ru-RU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РЕШЕНИЕ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03</a:t>
            </a:r>
            <a:endParaRPr lang="ru-RU" sz="1000"/>
          </a:p>
        </p:txBody>
      </p:sp>
      <p:sp>
        <p:nvSpPr>
          <p:cNvPr id="7" name="Text 7"/>
          <p:cNvSpPr txBox="1"/>
          <p:nvPr/>
        </p:nvSpPr>
        <p:spPr>
          <a:xfrm>
            <a:off x="548640" y="749808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21826"/>
                </a:solidFill>
                <a:latin typeface="Georgia"/>
                <a:cs typeface="Georgia"/>
              </a:rPr>
              <a:t>CloudMarket превращает бренд в понятный онлайн-магазин с готовым покупательским сценарием.</a:t>
            </a:r>
            <a:endParaRPr lang="ru-RU" sz="3400"/>
          </a:p>
        </p:txBody>
      </p:sp>
      <p:sp>
        <p:nvSpPr>
          <p:cNvPr id="8" name="Shape 8"/>
          <p:cNvSpPr/>
          <p:nvPr/>
        </p:nvSpPr>
        <p:spPr>
          <a:xfrm>
            <a:off x="685800" y="2240280"/>
            <a:ext cx="251460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9" name="Shape 9"/>
          <p:cNvSpPr/>
          <p:nvPr/>
        </p:nvSpPr>
        <p:spPr>
          <a:xfrm>
            <a:off x="685800" y="2240280"/>
            <a:ext cx="64008" cy="9875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68680" y="240487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Витрина</a:t>
            </a:r>
            <a:endParaRPr lang="ru-RU" sz="1600"/>
          </a:p>
        </p:txBody>
      </p:sp>
      <p:sp>
        <p:nvSpPr>
          <p:cNvPr id="11" name="Text 11"/>
          <p:cNvSpPr txBox="1"/>
          <p:nvPr/>
        </p:nvSpPr>
        <p:spPr>
          <a:xfrm>
            <a:off x="868680" y="27157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Главная страница показывает стиль бренда, подборки и преимущества.</a:t>
            </a:r>
            <a:endParaRPr lang="ru-RU" sz="1000"/>
          </a:p>
        </p:txBody>
      </p:sp>
      <p:sp>
        <p:nvSpPr>
          <p:cNvPr id="12" name="Shape 12"/>
          <p:cNvSpPr/>
          <p:nvPr/>
        </p:nvSpPr>
        <p:spPr>
          <a:xfrm>
            <a:off x="3611880" y="2240280"/>
            <a:ext cx="251460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3" name="Shape 13"/>
          <p:cNvSpPr/>
          <p:nvPr/>
        </p:nvSpPr>
        <p:spPr>
          <a:xfrm>
            <a:off x="3611880" y="2240280"/>
            <a:ext cx="64008" cy="9875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794760" y="240487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Каталог</a:t>
            </a:r>
            <a:endParaRPr lang="ru-RU" sz="1600"/>
          </a:p>
        </p:txBody>
      </p:sp>
      <p:sp>
        <p:nvSpPr>
          <p:cNvPr id="15" name="Text 15"/>
          <p:cNvSpPr txBox="1"/>
          <p:nvPr/>
        </p:nvSpPr>
        <p:spPr>
          <a:xfrm>
            <a:off x="3794760" y="27157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Товары загружаются через API и имеют fallback, если сервер недоступен.</a:t>
            </a:r>
            <a:endParaRPr lang="ru-RU" sz="1000"/>
          </a:p>
        </p:txBody>
      </p:sp>
      <p:sp>
        <p:nvSpPr>
          <p:cNvPr id="16" name="Shape 16"/>
          <p:cNvSpPr/>
          <p:nvPr/>
        </p:nvSpPr>
        <p:spPr>
          <a:xfrm>
            <a:off x="6537960" y="2240280"/>
            <a:ext cx="251460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537960" y="2240280"/>
            <a:ext cx="64008" cy="987552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720840" y="240487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Карточка товара</a:t>
            </a:r>
            <a:endParaRPr lang="ru-RU" sz="1600"/>
          </a:p>
        </p:txBody>
      </p:sp>
      <p:sp>
        <p:nvSpPr>
          <p:cNvPr id="19" name="Text 19"/>
          <p:cNvSpPr txBox="1"/>
          <p:nvPr/>
        </p:nvSpPr>
        <p:spPr>
          <a:xfrm>
            <a:off x="6720840" y="27157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Покупатель видит описание, цену, изображения, размеры и ключевую информацию.</a:t>
            </a:r>
            <a:endParaRPr lang="ru-RU" sz="1000"/>
          </a:p>
        </p:txBody>
      </p:sp>
      <p:sp>
        <p:nvSpPr>
          <p:cNvPr id="20" name="Shape 20"/>
          <p:cNvSpPr/>
          <p:nvPr/>
        </p:nvSpPr>
        <p:spPr>
          <a:xfrm>
            <a:off x="9464040" y="2240280"/>
            <a:ext cx="201168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21" name="Shape 21"/>
          <p:cNvSpPr/>
          <p:nvPr/>
        </p:nvSpPr>
        <p:spPr>
          <a:xfrm>
            <a:off x="9464040" y="2240280"/>
            <a:ext cx="64008" cy="9875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9646919" y="2404872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Корзина и оплата</a:t>
            </a:r>
            <a:endParaRPr lang="ru-RU" sz="1600"/>
          </a:p>
        </p:txBody>
      </p:sp>
      <p:sp>
        <p:nvSpPr>
          <p:cNvPr id="23" name="Text 23"/>
          <p:cNvSpPr txBox="1"/>
          <p:nvPr/>
        </p:nvSpPr>
        <p:spPr>
          <a:xfrm>
            <a:off x="9646919" y="27157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Сценарий заказа подготовлен для подключения реальной оплаты и статусов.</a:t>
            </a:r>
            <a:endParaRPr lang="ru-RU" sz="1000"/>
          </a:p>
        </p:txBody>
      </p:sp>
      <p:sp>
        <p:nvSpPr>
          <p:cNvPr id="24" name="Shape 24"/>
          <p:cNvSpPr/>
          <p:nvPr/>
        </p:nvSpPr>
        <p:spPr>
          <a:xfrm>
            <a:off x="1051560" y="3931920"/>
            <a:ext cx="987552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22960" y="44348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000" b="1">
                <a:solidFill>
                  <a:srgbClr val="121826"/>
                </a:solidFill>
                <a:latin typeface="Georgia"/>
                <a:cs typeface="Georgia"/>
              </a:rPr>
              <a:t>Коммерческий смысл</a:t>
            </a:r>
            <a:endParaRPr lang="ru-RU" sz="2000"/>
          </a:p>
        </p:txBody>
      </p:sp>
      <p:sp>
        <p:nvSpPr>
          <p:cNvPr id="26" name="Text 26"/>
          <p:cNvSpPr txBox="1"/>
          <p:nvPr/>
        </p:nvSpPr>
        <p:spPr>
          <a:xfrm>
            <a:off x="2926080" y="43891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667085"/>
                </a:solidFill>
                <a:latin typeface="Arial"/>
                <a:cs typeface="Arial"/>
              </a:rPr>
              <a:t>Заказчик получает основу, которую можно адаптировать под конкретный бренд: заменить товары, цвета, тексты, домен и подключить реальные платежи.</a:t>
            </a:r>
            <a:endParaRPr lang="ru-RU" sz="1500"/>
          </a:p>
        </p:txBody>
      </p:sp>
      <p:sp>
        <p:nvSpPr>
          <p:cNvPr id="27" name="Shape 27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Функции подтверждаются кодом frontend/src и backend/main.py</a:t>
            </a:r>
            <a:endParaRPr lang="ru-RU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ЧТО ПОЛУЧАЕТ ЗАКАЗЧИК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04</a:t>
            </a:r>
            <a:endParaRPr lang="ru-RU" sz="1000"/>
          </a:p>
        </p:txBody>
      </p:sp>
      <p:sp>
        <p:nvSpPr>
          <p:cNvPr id="7" name="Text 7"/>
          <p:cNvSpPr txBox="1"/>
          <p:nvPr/>
        </p:nvSpPr>
        <p:spPr>
          <a:xfrm>
            <a:off x="548640" y="749808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21826"/>
                </a:solidFill>
                <a:latin typeface="Georgia"/>
                <a:cs typeface="Georgia"/>
              </a:rPr>
              <a:t>Проект можно упаковать как быстрый старт интернет-магазина.</a:t>
            </a:r>
            <a:endParaRPr lang="ru-RU" sz="3400"/>
          </a:p>
        </p:txBody>
      </p:sp>
      <p:sp>
        <p:nvSpPr>
          <p:cNvPr id="8" name="Shape 8"/>
          <p:cNvSpPr/>
          <p:nvPr/>
        </p:nvSpPr>
        <p:spPr>
          <a:xfrm>
            <a:off x="731520" y="1874519"/>
            <a:ext cx="3246120" cy="306324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051560" y="217627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FFFFFF"/>
                </a:solidFill>
                <a:latin typeface="Georgia"/>
                <a:cs typeface="Georgia"/>
              </a:rPr>
              <a:t>Для бизнеса</a:t>
            </a:r>
            <a:endParaRPr lang="ru-RU" sz="2400"/>
          </a:p>
        </p:txBody>
      </p:sp>
      <p:sp>
        <p:nvSpPr>
          <p:cNvPr id="10" name="Text 10"/>
          <p:cNvSpPr txBox="1"/>
          <p:nvPr/>
        </p:nvSpPr>
        <p:spPr>
          <a:xfrm>
            <a:off x="1069848" y="2816352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Быстрый запуск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Единый каталог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Красивое представление товара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Готовая логика заказов</a:t>
            </a:r>
            <a:endParaRPr lang="ru-RU" sz="1500"/>
          </a:p>
          <a:p>
            <a:pPr algn="l"/>
            <a:r>
              <a:rPr lang="ru-RU" sz="1500">
                <a:solidFill>
                  <a:srgbClr val="DDE7F2"/>
                </a:solidFill>
                <a:latin typeface="Arial"/>
                <a:cs typeface="Arial"/>
              </a:rPr>
              <a:t>Потенциал масштабирования</a:t>
            </a:r>
            <a:endParaRPr lang="ru-RU" sz="1500"/>
          </a:p>
        </p:txBody>
      </p:sp>
      <p:sp>
        <p:nvSpPr>
          <p:cNvPr id="11" name="Shape 11"/>
          <p:cNvSpPr/>
          <p:nvPr/>
        </p:nvSpPr>
        <p:spPr>
          <a:xfrm>
            <a:off x="4480560" y="1874519"/>
            <a:ext cx="3246120" cy="3063240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800600" y="217627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Для разработчика</a:t>
            </a:r>
            <a:endParaRPr lang="ru-RU" sz="2400"/>
          </a:p>
        </p:txBody>
      </p:sp>
      <p:sp>
        <p:nvSpPr>
          <p:cNvPr id="13" name="Text 13"/>
          <p:cNvSpPr txBox="1"/>
          <p:nvPr/>
        </p:nvSpPr>
        <p:spPr>
          <a:xfrm>
            <a:off x="4818888" y="2816352"/>
            <a:ext cx="242316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Понятная структура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React-компоненты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FastAPI endpoints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SQLAlchemy модели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Docker-ready подход</a:t>
            </a:r>
            <a:endParaRPr lang="ru-RU" sz="1500"/>
          </a:p>
        </p:txBody>
      </p:sp>
      <p:sp>
        <p:nvSpPr>
          <p:cNvPr id="14" name="Shape 14"/>
          <p:cNvSpPr/>
          <p:nvPr/>
        </p:nvSpPr>
        <p:spPr>
          <a:xfrm>
            <a:off x="8229600" y="1874519"/>
            <a:ext cx="2834640" cy="3063240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549640" y="217627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76B87"/>
                </a:solidFill>
                <a:latin typeface="Georgia"/>
                <a:cs typeface="Georgia"/>
              </a:rPr>
              <a:t>Для клиента</a:t>
            </a:r>
            <a:endParaRPr lang="ru-RU" sz="2400"/>
          </a:p>
        </p:txBody>
      </p:sp>
      <p:sp>
        <p:nvSpPr>
          <p:cNvPr id="16" name="Text 16"/>
          <p:cNvSpPr txBox="1"/>
          <p:nvPr/>
        </p:nvSpPr>
        <p:spPr>
          <a:xfrm>
            <a:off x="8567928" y="2816352"/>
            <a:ext cx="20116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Удобная навигация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Избранное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Корзина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Личный раздел</a:t>
            </a:r>
            <a:endParaRPr lang="ru-RU" sz="1500"/>
          </a:p>
          <a:p>
            <a:pPr algn="l"/>
            <a:r>
              <a:rPr lang="ru-RU" sz="1500">
                <a:solidFill>
                  <a:srgbClr val="121826"/>
                </a:solidFill>
                <a:latin typeface="Arial"/>
                <a:cs typeface="Arial"/>
              </a:rPr>
              <a:t>Понятный checkout</a:t>
            </a:r>
            <a:endParaRPr lang="ru-RU" sz="1500"/>
          </a:p>
        </p:txBody>
      </p:sp>
      <p:sp>
        <p:nvSpPr>
          <p:cNvPr id="17" name="Shape 17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CloudMarket sales pitch</a:t>
            </a:r>
            <a:endParaRPr lang="ru-RU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ПОЧЕМУ ПРОЕКТ НАДЕЖНЫЙ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05</a:t>
            </a:r>
            <a:endParaRPr lang="ru-RU" sz="1000"/>
          </a:p>
        </p:txBody>
      </p:sp>
      <p:sp>
        <p:nvSpPr>
          <p:cNvPr id="7" name="Text 7"/>
          <p:cNvSpPr txBox="1"/>
          <p:nvPr/>
        </p:nvSpPr>
        <p:spPr>
          <a:xfrm>
            <a:off x="548640" y="749808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21826"/>
                </a:solidFill>
                <a:latin typeface="Georgia"/>
                <a:cs typeface="Georgia"/>
              </a:rPr>
              <a:t>Техническая часть работает как аргумент доверия, а не как самоцель.</a:t>
            </a:r>
            <a:endParaRPr lang="ru-RU" sz="3400"/>
          </a:p>
        </p:txBody>
      </p:sp>
      <p:sp>
        <p:nvSpPr>
          <p:cNvPr id="8" name="Shape 8"/>
          <p:cNvSpPr/>
          <p:nvPr/>
        </p:nvSpPr>
        <p:spPr>
          <a:xfrm>
            <a:off x="685800" y="2240280"/>
            <a:ext cx="301752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9" name="Shape 9"/>
          <p:cNvSpPr/>
          <p:nvPr/>
        </p:nvSpPr>
        <p:spPr>
          <a:xfrm>
            <a:off x="685800" y="2240280"/>
            <a:ext cx="64008" cy="9875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68680" y="2404872"/>
            <a:ext cx="269747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Frontend</a:t>
            </a:r>
            <a:endParaRPr lang="ru-RU" sz="1600"/>
          </a:p>
        </p:txBody>
      </p:sp>
      <p:sp>
        <p:nvSpPr>
          <p:cNvPr id="11" name="Text 11"/>
          <p:cNvSpPr txBox="1"/>
          <p:nvPr/>
        </p:nvSpPr>
        <p:spPr>
          <a:xfrm>
            <a:off x="868680" y="2715768"/>
            <a:ext cx="269747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React + Vite + TypeScript дают быстрый интерфейс и понятную компонентную структуру.</a:t>
            </a:r>
            <a:endParaRPr lang="ru-RU" sz="1000"/>
          </a:p>
        </p:txBody>
      </p:sp>
      <p:sp>
        <p:nvSpPr>
          <p:cNvPr id="12" name="Shape 12"/>
          <p:cNvSpPr/>
          <p:nvPr/>
        </p:nvSpPr>
        <p:spPr>
          <a:xfrm>
            <a:off x="4526280" y="2240280"/>
            <a:ext cx="301752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526280" y="2240280"/>
            <a:ext cx="64008" cy="9875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709160" y="2404872"/>
            <a:ext cx="269747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Backend</a:t>
            </a:r>
            <a:endParaRPr lang="ru-RU" sz="1600"/>
          </a:p>
        </p:txBody>
      </p:sp>
      <p:sp>
        <p:nvSpPr>
          <p:cNvPr id="15" name="Text 15"/>
          <p:cNvSpPr txBox="1"/>
          <p:nvPr/>
        </p:nvSpPr>
        <p:spPr>
          <a:xfrm>
            <a:off x="4709160" y="2715768"/>
            <a:ext cx="269747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FastAPI + SQLAlchemy отделяют бизнес-логику от интерфейса и дают расширяемое API.</a:t>
            </a:r>
            <a:endParaRPr lang="ru-RU" sz="1000"/>
          </a:p>
        </p:txBody>
      </p:sp>
      <p:sp>
        <p:nvSpPr>
          <p:cNvPr id="16" name="Shape 16"/>
          <p:cNvSpPr/>
          <p:nvPr/>
        </p:nvSpPr>
        <p:spPr>
          <a:xfrm>
            <a:off x="8366760" y="2240280"/>
            <a:ext cx="301752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366760" y="2240280"/>
            <a:ext cx="64008" cy="987552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549640" y="2404872"/>
            <a:ext cx="269747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Данные и деплой</a:t>
            </a:r>
            <a:endParaRPr lang="ru-RU" sz="1600"/>
          </a:p>
        </p:txBody>
      </p:sp>
      <p:sp>
        <p:nvSpPr>
          <p:cNvPr id="19" name="Text 19"/>
          <p:cNvSpPr txBox="1"/>
          <p:nvPr/>
        </p:nvSpPr>
        <p:spPr>
          <a:xfrm>
            <a:off x="8549640" y="2715768"/>
            <a:ext cx="269747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SQLite, seed-данные, Dockerfile и переменные окружения упрощают запуск.</a:t>
            </a:r>
            <a:endParaRPr lang="ru-RU" sz="1000"/>
          </a:p>
        </p:txBody>
      </p:sp>
      <p:sp>
        <p:nvSpPr>
          <p:cNvPr id="20" name="Shape 20"/>
          <p:cNvSpPr/>
          <p:nvPr/>
        </p:nvSpPr>
        <p:spPr>
          <a:xfrm>
            <a:off x="1005840" y="4251960"/>
            <a:ext cx="9966960" cy="786384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1325880" y="448056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76B87"/>
                </a:solidFill>
                <a:latin typeface="Arial"/>
                <a:cs typeface="Arial"/>
              </a:rPr>
              <a:t>Как это объяснить покупателю</a:t>
            </a:r>
            <a:endParaRPr lang="ru-RU" sz="1400"/>
          </a:p>
        </p:txBody>
      </p:sp>
      <p:sp>
        <p:nvSpPr>
          <p:cNvPr id="22" name="Text 22"/>
          <p:cNvSpPr txBox="1"/>
          <p:nvPr/>
        </p:nvSpPr>
        <p:spPr>
          <a:xfrm>
            <a:off x="3657600" y="4443984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>
                <a:solidFill>
                  <a:srgbClr val="667085"/>
                </a:solidFill>
                <a:latin typeface="Arial"/>
                <a:cs typeface="Arial"/>
              </a:rPr>
              <a:t>Архитектура не привязывает магазин к одному экрану или одной базе: можно добавлять фильтры, админку, историю заказов, аналитику и новые способы оплаты.</a:t>
            </a:r>
            <a:endParaRPr lang="ru-RU" sz="1400"/>
          </a:p>
        </p:txBody>
      </p:sp>
      <p:sp>
        <p:nvSpPr>
          <p:cNvPr id="23" name="Shape 23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Стек: React, Vite, TypeScript, FastAPI, SQLAlchemy, SQLite, Docker</a:t>
            </a:r>
            <a:endParaRPr lang="ru-RU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МОДЕЛЬ ПРОДАЖИ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06</a:t>
            </a:r>
            <a:endParaRPr lang="ru-RU" sz="1000"/>
          </a:p>
        </p:txBody>
      </p:sp>
      <p:sp>
        <p:nvSpPr>
          <p:cNvPr id="7" name="Text 7"/>
          <p:cNvSpPr txBox="1"/>
          <p:nvPr/>
        </p:nvSpPr>
        <p:spPr>
          <a:xfrm>
            <a:off x="548640" y="749808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21826"/>
                </a:solidFill>
                <a:latin typeface="Georgia"/>
                <a:cs typeface="Georgia"/>
              </a:rPr>
              <a:t>CloudMarket можно продавать пакетами: от демонстрационного MVP до доработки под бренд.</a:t>
            </a:r>
            <a:endParaRPr lang="ru-RU" sz="3400"/>
          </a:p>
        </p:txBody>
      </p:sp>
      <p:sp>
        <p:nvSpPr>
          <p:cNvPr id="8" name="Shape 8"/>
          <p:cNvSpPr/>
          <p:nvPr/>
        </p:nvSpPr>
        <p:spPr>
          <a:xfrm>
            <a:off x="868680" y="2084831"/>
            <a:ext cx="10058400" cy="749808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9" name="Shape 9"/>
          <p:cNvSpPr/>
          <p:nvPr/>
        </p:nvSpPr>
        <p:spPr>
          <a:xfrm>
            <a:off x="868680" y="2084831"/>
            <a:ext cx="91440" cy="74980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188720" y="226771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76B87"/>
                </a:solidFill>
                <a:latin typeface="Georgia"/>
                <a:cs typeface="Georgia"/>
              </a:rPr>
              <a:t>Старт</a:t>
            </a:r>
            <a:endParaRPr lang="ru-RU" sz="1800"/>
          </a:p>
        </p:txBody>
      </p:sp>
      <p:sp>
        <p:nvSpPr>
          <p:cNvPr id="11" name="Text 11"/>
          <p:cNvSpPr txBox="1"/>
          <p:nvPr/>
        </p:nvSpPr>
        <p:spPr>
          <a:xfrm>
            <a:off x="2743200" y="2249424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300" b="1">
                <a:solidFill>
                  <a:srgbClr val="121826"/>
                </a:solidFill>
                <a:latin typeface="Arial"/>
                <a:cs typeface="Arial"/>
              </a:rPr>
              <a:t>Настройка проекта, замена контента, базовый запуск</a:t>
            </a:r>
            <a:endParaRPr lang="ru-RU" sz="1300"/>
          </a:p>
        </p:txBody>
      </p:sp>
      <p:sp>
        <p:nvSpPr>
          <p:cNvPr id="12" name="Text 12"/>
          <p:cNvSpPr txBox="1"/>
          <p:nvPr/>
        </p:nvSpPr>
        <p:spPr>
          <a:xfrm>
            <a:off x="8549640" y="22677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667085"/>
                </a:solidFill>
                <a:latin typeface="Arial"/>
                <a:cs typeface="Arial"/>
              </a:rPr>
              <a:t>быстрый сайт-витрина</a:t>
            </a:r>
            <a:endParaRPr lang="ru-RU" sz="1200"/>
          </a:p>
        </p:txBody>
      </p:sp>
      <p:sp>
        <p:nvSpPr>
          <p:cNvPr id="13" name="Shape 13"/>
          <p:cNvSpPr/>
          <p:nvPr/>
        </p:nvSpPr>
        <p:spPr>
          <a:xfrm>
            <a:off x="868680" y="3163824"/>
            <a:ext cx="10058400" cy="749808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4" name="Shape 14"/>
          <p:cNvSpPr/>
          <p:nvPr/>
        </p:nvSpPr>
        <p:spPr>
          <a:xfrm>
            <a:off x="868680" y="3163824"/>
            <a:ext cx="91440" cy="749808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188720" y="334670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B7791F"/>
                </a:solidFill>
                <a:latin typeface="Georgia"/>
                <a:cs typeface="Georgia"/>
              </a:rPr>
              <a:t>Бизнес</a:t>
            </a:r>
            <a:endParaRPr lang="ru-RU" sz="1800"/>
          </a:p>
        </p:txBody>
      </p:sp>
      <p:sp>
        <p:nvSpPr>
          <p:cNvPr id="16" name="Text 16"/>
          <p:cNvSpPr txBox="1"/>
          <p:nvPr/>
        </p:nvSpPr>
        <p:spPr>
          <a:xfrm>
            <a:off x="2743200" y="3328416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300" b="1">
                <a:solidFill>
                  <a:srgbClr val="121826"/>
                </a:solidFill>
                <a:latin typeface="Arial"/>
                <a:cs typeface="Arial"/>
              </a:rPr>
              <a:t>Фильтры, оплата, статусы заказов, оформление бренда</a:t>
            </a:r>
            <a:endParaRPr lang="ru-RU" sz="1300"/>
          </a:p>
        </p:txBody>
      </p:sp>
      <p:sp>
        <p:nvSpPr>
          <p:cNvPr id="17" name="Text 17"/>
          <p:cNvSpPr txBox="1"/>
          <p:nvPr/>
        </p:nvSpPr>
        <p:spPr>
          <a:xfrm>
            <a:off x="8549640" y="334670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667085"/>
                </a:solidFill>
                <a:latin typeface="Arial"/>
                <a:cs typeface="Arial"/>
              </a:rPr>
              <a:t>готовность к продажам</a:t>
            </a:r>
            <a:endParaRPr lang="ru-RU" sz="1200"/>
          </a:p>
        </p:txBody>
      </p:sp>
      <p:sp>
        <p:nvSpPr>
          <p:cNvPr id="18" name="Shape 18"/>
          <p:cNvSpPr/>
          <p:nvPr/>
        </p:nvSpPr>
        <p:spPr>
          <a:xfrm>
            <a:off x="868680" y="4242816"/>
            <a:ext cx="10058400" cy="749808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68680" y="4242816"/>
            <a:ext cx="91440" cy="749808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188720" y="442569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2F7D5B"/>
                </a:solidFill>
                <a:latin typeface="Georgia"/>
                <a:cs typeface="Georgia"/>
              </a:rPr>
              <a:t>Рост</a:t>
            </a:r>
            <a:endParaRPr lang="ru-RU" sz="1800"/>
          </a:p>
        </p:txBody>
      </p:sp>
      <p:sp>
        <p:nvSpPr>
          <p:cNvPr id="21" name="Text 21"/>
          <p:cNvSpPr txBox="1"/>
          <p:nvPr/>
        </p:nvSpPr>
        <p:spPr>
          <a:xfrm>
            <a:off x="2743200" y="4407407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300" b="1">
                <a:solidFill>
                  <a:srgbClr val="121826"/>
                </a:solidFill>
                <a:latin typeface="Arial"/>
                <a:cs typeface="Arial"/>
              </a:rPr>
              <a:t>Админ-панель, аналитика, история заказов, SEO</a:t>
            </a:r>
            <a:endParaRPr lang="ru-RU" sz="1300"/>
          </a:p>
        </p:txBody>
      </p:sp>
      <p:sp>
        <p:nvSpPr>
          <p:cNvPr id="22" name="Text 22"/>
          <p:cNvSpPr txBox="1"/>
          <p:nvPr/>
        </p:nvSpPr>
        <p:spPr>
          <a:xfrm>
            <a:off x="8549640" y="442569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667085"/>
                </a:solidFill>
                <a:latin typeface="Arial"/>
                <a:cs typeface="Arial"/>
              </a:rPr>
              <a:t>масштабирование</a:t>
            </a:r>
            <a:endParaRPr lang="ru-RU" sz="1200"/>
          </a:p>
        </p:txBody>
      </p:sp>
      <p:sp>
        <p:nvSpPr>
          <p:cNvPr id="23" name="Text 23"/>
          <p:cNvSpPr txBox="1"/>
          <p:nvPr/>
        </p:nvSpPr>
        <p:spPr>
          <a:xfrm>
            <a:off x="960120" y="5440680"/>
            <a:ext cx="9509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Такой подход помогает продать проект не как «учебный код», а как основу коммерческого решения с понятными этапами внедрения.</a:t>
            </a:r>
            <a:endParaRPr lang="ru-RU" sz="1600"/>
          </a:p>
        </p:txBody>
      </p:sp>
      <p:sp>
        <p:nvSpPr>
          <p:cNvPr id="24" name="Shape 24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CloudMarket sales pitch</a:t>
            </a:r>
            <a:endParaRPr lang="ru-RU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ROADMAP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07</a:t>
            </a:r>
            <a:endParaRPr lang="ru-RU" sz="1000"/>
          </a:p>
        </p:txBody>
      </p:sp>
      <p:sp>
        <p:nvSpPr>
          <p:cNvPr id="7" name="Text 7"/>
          <p:cNvSpPr txBox="1"/>
          <p:nvPr/>
        </p:nvSpPr>
        <p:spPr>
          <a:xfrm>
            <a:off x="548640" y="749808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21826"/>
                </a:solidFill>
                <a:latin typeface="Georgia"/>
                <a:cs typeface="Georgia"/>
              </a:rPr>
              <a:t>Следующие доработки прямо повышают коммерческую ценность.</a:t>
            </a:r>
            <a:endParaRPr lang="ru-RU" sz="3400"/>
          </a:p>
        </p:txBody>
      </p:sp>
      <p:sp>
        <p:nvSpPr>
          <p:cNvPr id="8" name="Shape 8"/>
          <p:cNvSpPr/>
          <p:nvPr/>
        </p:nvSpPr>
        <p:spPr>
          <a:xfrm>
            <a:off x="713232" y="2487168"/>
            <a:ext cx="1737360" cy="10972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713232" y="2761488"/>
            <a:ext cx="17373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13232" y="2761488"/>
            <a:ext cx="64008" cy="9875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96112" y="292608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Фильтры и поиск</a:t>
            </a:r>
            <a:endParaRPr lang="ru-RU" sz="1600"/>
          </a:p>
        </p:txBody>
      </p:sp>
      <p:sp>
        <p:nvSpPr>
          <p:cNvPr id="12" name="Text 12"/>
          <p:cNvSpPr txBox="1"/>
          <p:nvPr/>
        </p:nvSpPr>
        <p:spPr>
          <a:xfrm>
            <a:off x="896112" y="3236976"/>
            <a:ext cx="141731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быстрее найти товар</a:t>
            </a:r>
            <a:endParaRPr lang="ru-RU" sz="1000"/>
          </a:p>
        </p:txBody>
      </p:sp>
      <p:sp>
        <p:nvSpPr>
          <p:cNvPr id="13" name="Shape 13"/>
          <p:cNvSpPr/>
          <p:nvPr/>
        </p:nvSpPr>
        <p:spPr>
          <a:xfrm>
            <a:off x="2450591" y="3310128"/>
            <a:ext cx="45720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2926080" y="2487168"/>
            <a:ext cx="1737360" cy="109728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2926080" y="2761488"/>
            <a:ext cx="17373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926080" y="2761488"/>
            <a:ext cx="64008" cy="9875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3108960" y="292608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Админ-панель</a:t>
            </a:r>
            <a:endParaRPr lang="ru-RU" sz="1600"/>
          </a:p>
        </p:txBody>
      </p:sp>
      <p:sp>
        <p:nvSpPr>
          <p:cNvPr id="18" name="Text 18"/>
          <p:cNvSpPr txBox="1"/>
          <p:nvPr/>
        </p:nvSpPr>
        <p:spPr>
          <a:xfrm>
            <a:off x="3108960" y="3236976"/>
            <a:ext cx="141731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управлять каталогом без кода</a:t>
            </a:r>
            <a:endParaRPr lang="ru-RU" sz="1000"/>
          </a:p>
        </p:txBody>
      </p:sp>
      <p:sp>
        <p:nvSpPr>
          <p:cNvPr id="19" name="Shape 19"/>
          <p:cNvSpPr/>
          <p:nvPr/>
        </p:nvSpPr>
        <p:spPr>
          <a:xfrm>
            <a:off x="4663440" y="3310128"/>
            <a:ext cx="45720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5138928" y="2487168"/>
            <a:ext cx="1737360" cy="109728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5138928" y="2761488"/>
            <a:ext cx="17373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22" name="Shape 22"/>
          <p:cNvSpPr/>
          <p:nvPr/>
        </p:nvSpPr>
        <p:spPr>
          <a:xfrm>
            <a:off x="5138928" y="2761488"/>
            <a:ext cx="64008" cy="987552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5321808" y="292608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История заказов</a:t>
            </a:r>
            <a:endParaRPr lang="ru-RU" sz="1600"/>
          </a:p>
        </p:txBody>
      </p:sp>
      <p:sp>
        <p:nvSpPr>
          <p:cNvPr id="24" name="Text 24"/>
          <p:cNvSpPr txBox="1"/>
          <p:nvPr/>
        </p:nvSpPr>
        <p:spPr>
          <a:xfrm>
            <a:off x="5321808" y="3236976"/>
            <a:ext cx="141731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возвраты и повторные продажи</a:t>
            </a:r>
            <a:endParaRPr lang="ru-RU" sz="1000"/>
          </a:p>
        </p:txBody>
      </p:sp>
      <p:sp>
        <p:nvSpPr>
          <p:cNvPr id="25" name="Shape 25"/>
          <p:cNvSpPr/>
          <p:nvPr/>
        </p:nvSpPr>
        <p:spPr>
          <a:xfrm>
            <a:off x="6876288" y="3310128"/>
            <a:ext cx="45720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7351775" y="2487168"/>
            <a:ext cx="1737360" cy="109728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7351775" y="2761488"/>
            <a:ext cx="17373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28" name="Shape 28"/>
          <p:cNvSpPr/>
          <p:nvPr/>
        </p:nvSpPr>
        <p:spPr>
          <a:xfrm>
            <a:off x="7351775" y="2761488"/>
            <a:ext cx="64008" cy="9875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7534655" y="292608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SEO и аналитика</a:t>
            </a:r>
            <a:endParaRPr lang="ru-RU" sz="1600"/>
          </a:p>
        </p:txBody>
      </p:sp>
      <p:sp>
        <p:nvSpPr>
          <p:cNvPr id="30" name="Text 30"/>
          <p:cNvSpPr txBox="1"/>
          <p:nvPr/>
        </p:nvSpPr>
        <p:spPr>
          <a:xfrm>
            <a:off x="7534655" y="3236976"/>
            <a:ext cx="141731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привлечение трафика</a:t>
            </a:r>
            <a:endParaRPr lang="ru-RU" sz="1000"/>
          </a:p>
        </p:txBody>
      </p:sp>
      <p:sp>
        <p:nvSpPr>
          <p:cNvPr id="31" name="Shape 31"/>
          <p:cNvSpPr/>
          <p:nvPr/>
        </p:nvSpPr>
        <p:spPr>
          <a:xfrm>
            <a:off x="9089136" y="3310128"/>
            <a:ext cx="45720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9564624" y="2487168"/>
            <a:ext cx="1737360" cy="109728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9564624" y="2761488"/>
            <a:ext cx="1737360" cy="987552"/>
          </a:xfrm>
          <a:prstGeom prst="rect">
            <a:avLst/>
          </a:prstGeom>
          <a:solidFill>
            <a:srgbClr val="FFF9F0"/>
          </a:solidFill>
          <a:ln w="9000">
            <a:solidFill>
              <a:srgbClr val="D8CCBC"/>
            </a:solidFill>
          </a:ln>
        </p:spPr>
      </p:sp>
      <p:sp>
        <p:nvSpPr>
          <p:cNvPr id="34" name="Shape 34"/>
          <p:cNvSpPr/>
          <p:nvPr/>
        </p:nvSpPr>
        <p:spPr>
          <a:xfrm>
            <a:off x="9564624" y="2761488"/>
            <a:ext cx="64008" cy="9875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9747503" y="292608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b="1">
                <a:solidFill>
                  <a:srgbClr val="121826"/>
                </a:solidFill>
                <a:latin typeface="Arial"/>
                <a:cs typeface="Arial"/>
              </a:rPr>
              <a:t>Расширенная оплата</a:t>
            </a:r>
            <a:endParaRPr lang="ru-RU" sz="1600"/>
          </a:p>
        </p:txBody>
      </p:sp>
      <p:sp>
        <p:nvSpPr>
          <p:cNvPr id="36" name="Text 36"/>
          <p:cNvSpPr txBox="1"/>
          <p:nvPr/>
        </p:nvSpPr>
        <p:spPr>
          <a:xfrm>
            <a:off x="9747503" y="3236976"/>
            <a:ext cx="141731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667085"/>
                </a:solidFill>
                <a:latin typeface="Arial"/>
                <a:cs typeface="Arial"/>
              </a:rPr>
              <a:t>больше способов checkout</a:t>
            </a:r>
            <a:endParaRPr lang="ru-RU" sz="1000"/>
          </a:p>
        </p:txBody>
      </p:sp>
      <p:sp>
        <p:nvSpPr>
          <p:cNvPr id="37" name="Shape 37"/>
          <p:cNvSpPr/>
          <p:nvPr/>
        </p:nvSpPr>
        <p:spPr>
          <a:xfrm>
            <a:off x="1097280" y="4828032"/>
            <a:ext cx="9875520" cy="53035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1417320" y="498348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 b="1">
                <a:solidFill>
                  <a:srgbClr val="CBD5E1"/>
                </a:solidFill>
                <a:latin typeface="Arial"/>
                <a:cs typeface="Arial"/>
              </a:rPr>
              <a:t>Продажа через roadmap</a:t>
            </a:r>
            <a:endParaRPr lang="ru-RU" sz="1100"/>
          </a:p>
        </p:txBody>
      </p:sp>
      <p:sp>
        <p:nvSpPr>
          <p:cNvPr id="39" name="Text 39"/>
          <p:cNvSpPr txBox="1"/>
          <p:nvPr/>
        </p:nvSpPr>
        <p:spPr>
          <a:xfrm>
            <a:off x="3291840" y="4937760"/>
            <a:ext cx="67665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rial"/>
                <a:cs typeface="Arial"/>
              </a:rPr>
              <a:t>Сначала продается рабочая база, затем дополнительные модули как отдельные этапы.</a:t>
            </a:r>
            <a:endParaRPr lang="ru-RU" sz="1500"/>
          </a:p>
        </p:txBody>
      </p:sp>
      <p:sp>
        <p:nvSpPr>
          <p:cNvPr id="40" name="Shape 40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CloudMarket sales pitch</a:t>
            </a:r>
            <a:endParaRPr lang="ru-RU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411480" y="420624"/>
            <a:ext cx="73152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36576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ФИНАЛЬНЫЙ ОФФЕР</a:t>
            </a:r>
            <a:endParaRPr lang="ru-RU" sz="900"/>
          </a:p>
        </p:txBody>
      </p:sp>
      <p:sp>
        <p:nvSpPr>
          <p:cNvPr id="6" name="Text 6"/>
          <p:cNvSpPr txBox="1"/>
          <p:nvPr/>
        </p:nvSpPr>
        <p:spPr>
          <a:xfrm>
            <a:off x="11292840" y="6291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000" b="1">
                <a:solidFill>
                  <a:srgbClr val="667085"/>
                </a:solidFill>
                <a:latin typeface="Arial"/>
                <a:cs typeface="Arial"/>
              </a:rPr>
              <a:t>08</a:t>
            </a:r>
            <a:endParaRPr lang="ru-RU" sz="1000"/>
          </a:p>
        </p:txBody>
      </p:sp>
      <p:sp>
        <p:nvSpPr>
          <p:cNvPr id="7" name="Text 7"/>
          <p:cNvSpPr txBox="1"/>
          <p:nvPr/>
        </p:nvSpPr>
        <p:spPr>
          <a:xfrm>
            <a:off x="548640" y="749808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121826"/>
                </a:solidFill>
                <a:latin typeface="Georgia"/>
                <a:cs typeface="Georgia"/>
              </a:rPr>
              <a:t>CloudMarket - это быстрый путь от идеи бренда к работающему онлайн-магазину.</a:t>
            </a:r>
            <a:endParaRPr lang="ru-RU" sz="3400"/>
          </a:p>
        </p:txBody>
      </p:sp>
      <p:sp>
        <p:nvSpPr>
          <p:cNvPr id="8" name="Text 8"/>
          <p:cNvSpPr txBox="1"/>
          <p:nvPr/>
        </p:nvSpPr>
        <p:spPr>
          <a:xfrm>
            <a:off x="685800" y="199339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76B87"/>
                </a:solidFill>
                <a:latin typeface="Arial"/>
                <a:cs typeface="Arial"/>
              </a:rPr>
              <a:t>Что можно сказать на защите или встрече:</a:t>
            </a:r>
            <a:endParaRPr lang="ru-RU" sz="1800"/>
          </a:p>
        </p:txBody>
      </p:sp>
      <p:sp>
        <p:nvSpPr>
          <p:cNvPr id="9" name="Shape 9"/>
          <p:cNvSpPr/>
          <p:nvPr/>
        </p:nvSpPr>
        <p:spPr>
          <a:xfrm>
            <a:off x="822960" y="2542032"/>
            <a:ext cx="10424160" cy="1170432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170432" y="2816352"/>
            <a:ext cx="9738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Georgia"/>
                <a:cs typeface="Georgia"/>
              </a:rPr>
              <a:t>«Я предлагаю не просто набор страниц, а готовую fullstack-основу интернет-магазина. Ее можно адаптировать под бренд, подключить реальные товары и развивать как коммерческий продукт».</a:t>
            </a:r>
            <a:endParaRPr lang="ru-RU" sz="2200"/>
          </a:p>
        </p:txBody>
      </p:sp>
      <p:sp>
        <p:nvSpPr>
          <p:cNvPr id="11" name="Shape 11"/>
          <p:cNvSpPr/>
          <p:nvPr/>
        </p:nvSpPr>
        <p:spPr>
          <a:xfrm>
            <a:off x="914400" y="4443984"/>
            <a:ext cx="36576" cy="5303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42416" y="4425696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1</a:t>
            </a:r>
            <a:endParaRPr lang="ru-RU" sz="2400"/>
          </a:p>
        </p:txBody>
      </p:sp>
      <p:sp>
        <p:nvSpPr>
          <p:cNvPr id="13" name="Text 13"/>
          <p:cNvSpPr txBox="1"/>
          <p:nvPr/>
        </p:nvSpPr>
        <p:spPr>
          <a:xfrm>
            <a:off x="1042416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готовый пользовательский сценарий</a:t>
            </a:r>
            <a:endParaRPr lang="ru-RU" sz="900"/>
          </a:p>
        </p:txBody>
      </p:sp>
      <p:sp>
        <p:nvSpPr>
          <p:cNvPr id="14" name="Shape 14"/>
          <p:cNvSpPr/>
          <p:nvPr/>
        </p:nvSpPr>
        <p:spPr>
          <a:xfrm>
            <a:off x="3840480" y="4443984"/>
            <a:ext cx="36576" cy="530352"/>
          </a:xfrm>
          <a:prstGeom prst="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968496" y="4425696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2</a:t>
            </a:r>
            <a:endParaRPr lang="ru-RU" sz="2400"/>
          </a:p>
        </p:txBody>
      </p:sp>
      <p:sp>
        <p:nvSpPr>
          <p:cNvPr id="16" name="Text 16"/>
          <p:cNvSpPr txBox="1"/>
          <p:nvPr/>
        </p:nvSpPr>
        <p:spPr>
          <a:xfrm>
            <a:off x="3968496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серверная логика и база</a:t>
            </a:r>
            <a:endParaRPr lang="ru-RU" sz="900"/>
          </a:p>
        </p:txBody>
      </p:sp>
      <p:sp>
        <p:nvSpPr>
          <p:cNvPr id="17" name="Shape 17"/>
          <p:cNvSpPr/>
          <p:nvPr/>
        </p:nvSpPr>
        <p:spPr>
          <a:xfrm>
            <a:off x="6537960" y="4443984"/>
            <a:ext cx="36576" cy="530352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665976" y="4425696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3</a:t>
            </a:r>
            <a:endParaRPr lang="ru-RU" sz="2400"/>
          </a:p>
        </p:txBody>
      </p:sp>
      <p:sp>
        <p:nvSpPr>
          <p:cNvPr id="19" name="Text 19"/>
          <p:cNvSpPr txBox="1"/>
          <p:nvPr/>
        </p:nvSpPr>
        <p:spPr>
          <a:xfrm>
            <a:off x="6665976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понятный план монетизации</a:t>
            </a:r>
            <a:endParaRPr lang="ru-RU" sz="900"/>
          </a:p>
        </p:txBody>
      </p:sp>
      <p:sp>
        <p:nvSpPr>
          <p:cNvPr id="20" name="Shape 20"/>
          <p:cNvSpPr/>
          <p:nvPr/>
        </p:nvSpPr>
        <p:spPr>
          <a:xfrm>
            <a:off x="9235440" y="4443984"/>
            <a:ext cx="36576" cy="530352"/>
          </a:xfrm>
          <a:prstGeom prst="rect">
            <a:avLst/>
          </a:prstGeom>
          <a:solidFill>
            <a:srgbClr val="176B8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363456" y="4425696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400" b="1">
                <a:solidFill>
                  <a:srgbClr val="121826"/>
                </a:solidFill>
                <a:latin typeface="Georgia"/>
                <a:cs typeface="Georgia"/>
              </a:rPr>
              <a:t>4</a:t>
            </a:r>
            <a:endParaRPr lang="ru-RU" sz="2400"/>
          </a:p>
        </p:txBody>
      </p:sp>
      <p:sp>
        <p:nvSpPr>
          <p:cNvPr id="22" name="Text 22"/>
          <p:cNvSpPr txBox="1"/>
          <p:nvPr/>
        </p:nvSpPr>
        <p:spPr>
          <a:xfrm>
            <a:off x="9363456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667085"/>
                </a:solidFill>
                <a:latin typeface="Arial"/>
                <a:cs typeface="Arial"/>
              </a:rPr>
              <a:t>простое развитие под заказчика</a:t>
            </a:r>
            <a:endParaRPr lang="ru-RU" sz="900"/>
          </a:p>
        </p:txBody>
      </p:sp>
      <p:sp>
        <p:nvSpPr>
          <p:cNvPr id="23" name="Shape 23"/>
          <p:cNvSpPr/>
          <p:nvPr/>
        </p:nvSpPr>
        <p:spPr>
          <a:xfrm>
            <a:off x="548640" y="6053328"/>
            <a:ext cx="10149840" cy="16459"/>
          </a:xfrm>
          <a:prstGeom prst="rect">
            <a:avLst/>
          </a:prstGeom>
          <a:solidFill>
            <a:srgbClr val="D8CCBC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548640" y="6272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67085"/>
                </a:solidFill>
                <a:latin typeface="Arial"/>
                <a:cs typeface="Arial"/>
              </a:rPr>
              <a:t>Финальная идея: проект можно продавать как MVP + этапы доработки</a:t>
            </a:r>
            <a:endParaRPr lang="ru-RU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Market Sales">
  <a:themeElements>
    <a:clrScheme name="CloudMarket">
      <a:dk1>
        <a:srgbClr val="121826"/>
      </a:dk1>
      <a:lt1>
        <a:srgbClr val="F7F3EA"/>
      </a:lt1>
      <a:dk2>
        <a:srgbClr val="101827"/>
      </a:dk2>
      <a:lt2>
        <a:srgbClr val="FFF9F0"/>
      </a:lt2>
      <a:accent1>
        <a:srgbClr val="176B87"/>
      </a:accent1>
      <a:accent2>
        <a:srgbClr val="B7791F"/>
      </a:accent2>
      <a:accent3>
        <a:srgbClr val="2F7D5B"/>
      </a:accent3>
      <a:accent4>
        <a:srgbClr val="667085"/>
      </a:accent4>
      <a:accent5>
        <a:srgbClr val="D8CCBC"/>
      </a:accent5>
      <a:accent6>
        <a:srgbClr val="243044"/>
      </a:accent6>
      <a:hlink>
        <a:srgbClr val="176B87"/>
      </a:hlink>
      <a:folHlink>
        <a:srgbClr val="B7791F"/>
      </a:folHlink>
    </a:clrScheme>
    <a:fontScheme name="CloudMarket">
      <a:majorFont>
        <a:latin typeface="Georgia"/>
        <a:cs typeface="Georgia"/>
      </a:majorFont>
      <a:minorFont>
        <a:latin typeface="Arial"/>
        <a:cs typeface="Arial"/>
      </a:minorFont>
    </a:fontScheme>
    <a:fmtScheme name="CloudMarke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</PresentationFormat>
  <Slides>8</Slides>
  <Company>CloudMarket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CloudMarket sales pitch</dc:title>
  <dc:creator>Codex</dc:creator>
  <cp:lastModifiedBy>Codex</cp:lastModifiedBy>
  <dcterms:created xsi:type="dcterms:W3CDTF">2026-05-20T00:00:00Z</dcterms:created>
  <dcterms:modified xsi:type="dcterms:W3CDTF">2026-05-20T00:00:00Z</dcterms:modified>
</cp:coreProperties>
</file>