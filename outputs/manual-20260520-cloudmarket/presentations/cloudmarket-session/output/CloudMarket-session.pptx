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1695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402336" y="411480"/>
            <a:ext cx="73152" cy="731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7784" y="35661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4748B"/>
                </a:solidFill>
                <a:latin typeface="Arial"/>
                <a:cs typeface="Arial"/>
              </a:rPr>
              <a:t>СЕССИЯ / FULLSTACK ПРОЕКТ</a:t>
            </a:r>
            <a:endParaRPr lang="ru-RU" sz="900"/>
          </a:p>
        </p:txBody>
      </p:sp>
      <p:sp>
        <p:nvSpPr>
          <p:cNvPr id="7" name="TextBox 7"/>
          <p:cNvSpPr txBox="1"/>
          <p:nvPr/>
        </p:nvSpPr>
        <p:spPr>
          <a:xfrm>
            <a:off x="11292840" y="63185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01</a:t>
            </a:r>
            <a:endParaRPr lang="ru-RU" sz="1000"/>
          </a:p>
        </p:txBody>
      </p:sp>
      <p:sp>
        <p:nvSpPr>
          <p:cNvPr id="8" name="Shape 8"/>
          <p:cNvSpPr/>
          <p:nvPr/>
        </p:nvSpPr>
        <p:spPr>
          <a:xfrm>
            <a:off x="7242048" y="0"/>
            <a:ext cx="4946904" cy="685800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8028431" y="1060704"/>
            <a:ext cx="2724912" cy="3913632"/>
          </a:xfrm>
          <a:prstGeom prst="rect">
            <a:avLst/>
          </a:prstGeom>
          <a:solidFill>
            <a:srgbClr val="223044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8339327" y="1371600"/>
            <a:ext cx="2121408" cy="228600"/>
          </a:xfrm>
          <a:prstGeom prst="rect">
            <a:avLst/>
          </a:prstGeom>
          <a:solidFill>
            <a:srgbClr val="FFF9F0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8339327" y="1810512"/>
            <a:ext cx="822960" cy="1161288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9363456" y="1810512"/>
            <a:ext cx="1078992" cy="1161288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8339327" y="3182112"/>
            <a:ext cx="2121408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8339327" y="3675887"/>
            <a:ext cx="2121408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8741664" y="4343400"/>
            <a:ext cx="1316736" cy="320040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48640" y="150876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5400" b="1">
                <a:solidFill>
                  <a:srgbClr val="111827"/>
                </a:solidFill>
                <a:latin typeface="Georgia"/>
                <a:cs typeface="Georgia"/>
              </a:rPr>
              <a:t>CloudMarket</a:t>
            </a:r>
            <a:endParaRPr lang="ru-RU" sz="5400"/>
          </a:p>
        </p:txBody>
      </p:sp>
      <p:sp>
        <p:nvSpPr>
          <p:cNvPr id="17" name="TextBox 17"/>
          <p:cNvSpPr txBox="1"/>
          <p:nvPr/>
        </p:nvSpPr>
        <p:spPr>
          <a:xfrm>
            <a:off x="594360" y="2359152"/>
            <a:ext cx="52120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 b="1">
                <a:solidFill>
                  <a:srgbClr val="176B87"/>
                </a:solidFill>
                <a:latin typeface="Arial"/>
                <a:cs typeface="Arial"/>
              </a:rPr>
              <a:t>Интернет-магазин на React, FastAPI и SQLite</a:t>
            </a:r>
            <a:endParaRPr lang="ru-RU" sz="2200"/>
          </a:p>
        </p:txBody>
      </p:sp>
      <p:sp>
        <p:nvSpPr>
          <p:cNvPr id="18" name="TextBox 18"/>
          <p:cNvSpPr txBox="1"/>
          <p:nvPr/>
        </p:nvSpPr>
        <p:spPr>
          <a:xfrm>
            <a:off x="594360" y="3035808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64748B"/>
                </a:solidFill>
                <a:latin typeface="Arial"/>
                <a:cs typeface="Arial"/>
              </a:rPr>
              <a:t>Учебный fullstack-проект: витрина товаров, каталог, авторизация, корзина, избранное, заказы и интеграция платежного сценария.</a:t>
            </a:r>
            <a:endParaRPr lang="ru-RU" sz="1500"/>
          </a:p>
        </p:txBody>
      </p:sp>
      <p:sp>
        <p:nvSpPr>
          <p:cNvPr id="19" name="Shape 19"/>
          <p:cNvSpPr/>
          <p:nvPr/>
        </p:nvSpPr>
        <p:spPr>
          <a:xfrm>
            <a:off x="594360" y="4206240"/>
            <a:ext cx="2103120" cy="310896"/>
          </a:xfrm>
          <a:prstGeom prst="rect">
            <a:avLst/>
          </a:prstGeom>
          <a:solidFill>
            <a:srgbClr val="FFFFFF"/>
          </a:solidFill>
          <a:ln w="9000">
            <a:solidFill>
              <a:srgbClr val="176B8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67512" y="4288536"/>
            <a:ext cx="1956815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900" b="1">
                <a:solidFill>
                  <a:srgbClr val="176B87"/>
                </a:solidFill>
                <a:latin typeface="Arial"/>
                <a:cs typeface="Arial"/>
              </a:rPr>
              <a:t>React + Vite + TypeScript</a:t>
            </a:r>
            <a:endParaRPr lang="ru-RU" sz="900"/>
          </a:p>
        </p:txBody>
      </p:sp>
      <p:sp>
        <p:nvSpPr>
          <p:cNvPr id="21" name="Shape 21"/>
          <p:cNvSpPr/>
          <p:nvPr/>
        </p:nvSpPr>
        <p:spPr>
          <a:xfrm>
            <a:off x="2816352" y="4206240"/>
            <a:ext cx="1874519" cy="310896"/>
          </a:xfrm>
          <a:prstGeom prst="rect">
            <a:avLst/>
          </a:prstGeom>
          <a:solidFill>
            <a:srgbClr val="FFFFFF"/>
          </a:solidFill>
          <a:ln w="9000">
            <a:solidFill>
              <a:srgbClr val="C47F2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889504" y="4288536"/>
            <a:ext cx="172821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900" b="1">
                <a:solidFill>
                  <a:srgbClr val="C47F2C"/>
                </a:solidFill>
                <a:latin typeface="Arial"/>
                <a:cs typeface="Arial"/>
              </a:rPr>
              <a:t>FastAPI + SQLAlchemy</a:t>
            </a:r>
            <a:endParaRPr lang="ru-RU" sz="900"/>
          </a:p>
        </p:txBody>
      </p:sp>
      <p:sp>
        <p:nvSpPr>
          <p:cNvPr id="23" name="Shape 23"/>
          <p:cNvSpPr/>
          <p:nvPr/>
        </p:nvSpPr>
        <p:spPr>
          <a:xfrm>
            <a:off x="4846320" y="4206240"/>
            <a:ext cx="1481328" cy="310896"/>
          </a:xfrm>
          <a:prstGeom prst="rect">
            <a:avLst/>
          </a:prstGeom>
          <a:solidFill>
            <a:srgbClr val="FFFFFF"/>
          </a:solidFill>
          <a:ln w="9000">
            <a:solidFill>
              <a:srgbClr val="2F7D5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919472" y="4288536"/>
            <a:ext cx="1335024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900" b="1">
                <a:solidFill>
                  <a:srgbClr val="2F7D5B"/>
                </a:solidFill>
                <a:latin typeface="Arial"/>
                <a:cs typeface="Arial"/>
              </a:rPr>
              <a:t>SQLite + Docker</a:t>
            </a:r>
            <a:endParaRPr lang="ru-RU" sz="900"/>
          </a:p>
        </p:txBody>
      </p:sp>
      <p:sp>
        <p:nvSpPr>
          <p:cNvPr id="25" name="Shape 25"/>
          <p:cNvSpPr/>
          <p:nvPr/>
        </p:nvSpPr>
        <p:spPr>
          <a:xfrm>
            <a:off x="594360" y="5074920"/>
            <a:ext cx="4937760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26" name="Shape 26"/>
          <p:cNvSpPr/>
          <p:nvPr/>
        </p:nvSpPr>
        <p:spPr>
          <a:xfrm>
            <a:off x="594360" y="5074920"/>
            <a:ext cx="54864" cy="877824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8952" y="5221224"/>
            <a:ext cx="4645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Цель</a:t>
            </a:r>
            <a:endParaRPr lang="ru-RU" sz="1500"/>
          </a:p>
        </p:txBody>
      </p:sp>
      <p:sp>
        <p:nvSpPr>
          <p:cNvPr id="28" name="TextBox 28"/>
          <p:cNvSpPr txBox="1"/>
          <p:nvPr/>
        </p:nvSpPr>
        <p:spPr>
          <a:xfrm>
            <a:off x="758952" y="5532120"/>
            <a:ext cx="46451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Показать полный цикл веб-приложения: интерфейс, API, база данных и деплой.</a:t>
            </a:r>
            <a:endParaRPr lang="ru-RU" sz="1000"/>
          </a:p>
        </p:txBody>
      </p:sp>
      <p:sp>
        <p:nvSpPr>
          <p:cNvPr id="29" name="Shape 29"/>
          <p:cNvSpPr/>
          <p:nvPr/>
        </p:nvSpPr>
        <p:spPr>
          <a:xfrm>
            <a:off x="548640" y="6080760"/>
            <a:ext cx="10104120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48640" y="629107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4748B"/>
                </a:solidFill>
                <a:latin typeface="Arial"/>
                <a:cs typeface="Arial"/>
              </a:rPr>
              <a:t>CloudMarket: монорепозиторий frontend + backend</a:t>
            </a:r>
            <a:endParaRPr lang="ru-RU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402336" y="411480"/>
            <a:ext cx="73152" cy="73152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7784" y="35661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4748B"/>
                </a:solidFill>
                <a:latin typeface="Arial"/>
                <a:cs typeface="Arial"/>
              </a:rPr>
              <a:t>ИДЕЯ ПРОЕКТА</a:t>
            </a:r>
            <a:endParaRPr lang="ru-RU" sz="900"/>
          </a:p>
        </p:txBody>
      </p:sp>
      <p:sp>
        <p:nvSpPr>
          <p:cNvPr id="7" name="TextBox 7"/>
          <p:cNvSpPr txBox="1"/>
          <p:nvPr/>
        </p:nvSpPr>
        <p:spPr>
          <a:xfrm>
            <a:off x="11292840" y="63185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02</a:t>
            </a:r>
            <a:endParaRPr lang="ru-RU" sz="1000"/>
          </a:p>
        </p:txBody>
      </p:sp>
      <p:sp>
        <p:nvSpPr>
          <p:cNvPr id="8" name="TextBox 8"/>
          <p:cNvSpPr txBox="1"/>
          <p:nvPr/>
        </p:nvSpPr>
        <p:spPr>
          <a:xfrm>
            <a:off x="548640" y="786384"/>
            <a:ext cx="86868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11827"/>
                </a:solidFill>
                <a:latin typeface="Georgia"/>
                <a:cs typeface="Georgia"/>
              </a:rPr>
              <a:t>Проект решает понятную задачу: собрать интернет-магазин как единую систему.</a:t>
            </a:r>
            <a:endParaRPr lang="ru-RU" sz="3400"/>
          </a:p>
        </p:txBody>
      </p:sp>
      <p:sp>
        <p:nvSpPr>
          <p:cNvPr id="9" name="TextBox 9"/>
          <p:cNvSpPr txBox="1"/>
          <p:nvPr/>
        </p:nvSpPr>
        <p:spPr>
          <a:xfrm>
            <a:off x="594360" y="1700784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300">
                <a:solidFill>
                  <a:srgbClr val="64748B"/>
                </a:solidFill>
                <a:latin typeface="Arial"/>
                <a:cs typeface="Arial"/>
              </a:rPr>
              <a:t>Для сессии важно показать не набор отдельных страниц, а связанный пользовательский сценарий и серверную часть, которая этот сценарий обслуживает.</a:t>
            </a:r>
            <a:endParaRPr lang="ru-RU" sz="1300"/>
          </a:p>
        </p:txBody>
      </p:sp>
      <p:sp>
        <p:nvSpPr>
          <p:cNvPr id="10" name="Shape 10"/>
          <p:cNvSpPr/>
          <p:nvPr/>
        </p:nvSpPr>
        <p:spPr>
          <a:xfrm>
            <a:off x="658368" y="2779776"/>
            <a:ext cx="2926080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58368" y="2779776"/>
            <a:ext cx="54864" cy="877824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22959" y="2926080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Пользователь</a:t>
            </a:r>
            <a:endParaRPr lang="ru-RU" sz="1500"/>
          </a:p>
        </p:txBody>
      </p:sp>
      <p:sp>
        <p:nvSpPr>
          <p:cNvPr id="13" name="TextBox 13"/>
          <p:cNvSpPr txBox="1"/>
          <p:nvPr/>
        </p:nvSpPr>
        <p:spPr>
          <a:xfrm>
            <a:off x="822959" y="3236976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Смотрит товары, открывает карточку, добавляет в корзину и избранное.</a:t>
            </a:r>
            <a:endParaRPr lang="ru-RU" sz="1000"/>
          </a:p>
        </p:txBody>
      </p:sp>
      <p:sp>
        <p:nvSpPr>
          <p:cNvPr id="14" name="Shape 14"/>
          <p:cNvSpPr/>
          <p:nvPr/>
        </p:nvSpPr>
        <p:spPr>
          <a:xfrm>
            <a:off x="4617720" y="2779776"/>
            <a:ext cx="2926080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617720" y="2779776"/>
            <a:ext cx="54864" cy="877824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782312" y="2926080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Интерфейс</a:t>
            </a:r>
            <a:endParaRPr lang="ru-RU" sz="1500"/>
          </a:p>
        </p:txBody>
      </p:sp>
      <p:sp>
        <p:nvSpPr>
          <p:cNvPr id="17" name="TextBox 17"/>
          <p:cNvSpPr txBox="1"/>
          <p:nvPr/>
        </p:nvSpPr>
        <p:spPr>
          <a:xfrm>
            <a:off x="4782312" y="3236976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React-компоненты и маршруты собирают витрину, каталог и личные разделы.</a:t>
            </a:r>
            <a:endParaRPr lang="ru-RU" sz="1000"/>
          </a:p>
        </p:txBody>
      </p:sp>
      <p:sp>
        <p:nvSpPr>
          <p:cNvPr id="18" name="Shape 18"/>
          <p:cNvSpPr/>
          <p:nvPr/>
        </p:nvSpPr>
        <p:spPr>
          <a:xfrm>
            <a:off x="8577072" y="2779776"/>
            <a:ext cx="2926080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577072" y="2779776"/>
            <a:ext cx="54864" cy="877824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741664" y="2926080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Сервер</a:t>
            </a:r>
            <a:endParaRPr lang="ru-RU" sz="1500"/>
          </a:p>
        </p:txBody>
      </p:sp>
      <p:sp>
        <p:nvSpPr>
          <p:cNvPr id="21" name="TextBox 21"/>
          <p:cNvSpPr txBox="1"/>
          <p:nvPr/>
        </p:nvSpPr>
        <p:spPr>
          <a:xfrm>
            <a:off x="8741664" y="3236976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FastAPI отдает товары, регистрирует пользователей и создает заказы.</a:t>
            </a:r>
            <a:endParaRPr lang="ru-RU" sz="1000"/>
          </a:p>
        </p:txBody>
      </p:sp>
      <p:sp>
        <p:nvSpPr>
          <p:cNvPr id="22" name="Shape 22"/>
          <p:cNvSpPr/>
          <p:nvPr/>
        </p:nvSpPr>
        <p:spPr>
          <a:xfrm>
            <a:off x="3584448" y="3218688"/>
            <a:ext cx="1005840" cy="18288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7543800" y="3218688"/>
            <a:ext cx="1005840" cy="18288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1143000" y="4480560"/>
            <a:ext cx="9784080" cy="82296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517904" y="466344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 b="1">
                <a:solidFill>
                  <a:srgbClr val="CBD5E1"/>
                </a:solidFill>
                <a:latin typeface="Arial"/>
                <a:cs typeface="Arial"/>
              </a:rPr>
              <a:t>Главная мысль для защиты</a:t>
            </a:r>
            <a:endParaRPr lang="ru-RU" sz="1100"/>
          </a:p>
        </p:txBody>
      </p:sp>
      <p:sp>
        <p:nvSpPr>
          <p:cNvPr id="26" name="TextBox 26"/>
          <p:cNvSpPr txBox="1"/>
          <p:nvPr/>
        </p:nvSpPr>
        <p:spPr>
          <a:xfrm>
            <a:off x="1517904" y="495604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FFFFFF"/>
                </a:solidFill>
                <a:latin typeface="Arial"/>
                <a:cs typeface="Arial"/>
              </a:rPr>
              <a:t>CloudMarket демонстрирует практическую fullstack-разработку: клиент, API, база данных, авторизация и платежный контур работают как части одной архитектуры.</a:t>
            </a:r>
            <a:endParaRPr lang="ru-RU" sz="1500"/>
          </a:p>
        </p:txBody>
      </p:sp>
      <p:sp>
        <p:nvSpPr>
          <p:cNvPr id="27" name="Shape 27"/>
          <p:cNvSpPr/>
          <p:nvPr/>
        </p:nvSpPr>
        <p:spPr>
          <a:xfrm>
            <a:off x="548640" y="6080760"/>
            <a:ext cx="10104120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48640" y="629107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4748B"/>
                </a:solidFill>
                <a:latin typeface="Arial"/>
                <a:cs typeface="Arial"/>
              </a:rPr>
              <a:t>Источник: код проекта CloudMarket</a:t>
            </a:r>
            <a:endParaRPr lang="ru-RU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402336" y="411480"/>
            <a:ext cx="73152" cy="731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7784" y="35661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4748B"/>
                </a:solidFill>
                <a:latin typeface="Arial"/>
                <a:cs typeface="Arial"/>
              </a:rPr>
              <a:t>ПОЛЬЗОВАТЕЛЬСКИЙ СЦЕНАРИЙ</a:t>
            </a:r>
            <a:endParaRPr lang="ru-RU" sz="900"/>
          </a:p>
        </p:txBody>
      </p:sp>
      <p:sp>
        <p:nvSpPr>
          <p:cNvPr id="7" name="TextBox 7"/>
          <p:cNvSpPr txBox="1"/>
          <p:nvPr/>
        </p:nvSpPr>
        <p:spPr>
          <a:xfrm>
            <a:off x="11292840" y="63185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03</a:t>
            </a:r>
            <a:endParaRPr lang="ru-RU" sz="1000"/>
          </a:p>
        </p:txBody>
      </p:sp>
      <p:sp>
        <p:nvSpPr>
          <p:cNvPr id="8" name="TextBox 8"/>
          <p:cNvSpPr txBox="1"/>
          <p:nvPr/>
        </p:nvSpPr>
        <p:spPr>
          <a:xfrm>
            <a:off x="548640" y="786384"/>
            <a:ext cx="7863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11827"/>
                </a:solidFill>
                <a:latin typeface="Georgia"/>
                <a:cs typeface="Georgia"/>
              </a:rPr>
              <a:t>Путь пользователя проходит от витрины до подтверждения заказа.</a:t>
            </a:r>
            <a:endParaRPr lang="ru-RU" sz="3400"/>
          </a:p>
        </p:txBody>
      </p:sp>
      <p:sp>
        <p:nvSpPr>
          <p:cNvPr id="9" name="Shape 9"/>
          <p:cNvSpPr/>
          <p:nvPr/>
        </p:nvSpPr>
        <p:spPr>
          <a:xfrm>
            <a:off x="658368" y="2670048"/>
            <a:ext cx="1737360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58368" y="2670048"/>
            <a:ext cx="54864" cy="877824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22959" y="2816352"/>
            <a:ext cx="144475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Витрина</a:t>
            </a:r>
            <a:endParaRPr lang="ru-RU" sz="1500"/>
          </a:p>
        </p:txBody>
      </p:sp>
      <p:sp>
        <p:nvSpPr>
          <p:cNvPr id="12" name="TextBox 12"/>
          <p:cNvSpPr txBox="1"/>
          <p:nvPr/>
        </p:nvSpPr>
        <p:spPr>
          <a:xfrm>
            <a:off x="822959" y="3127248"/>
            <a:ext cx="144475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главная страница и категории</a:t>
            </a:r>
            <a:endParaRPr lang="ru-RU" sz="1000"/>
          </a:p>
        </p:txBody>
      </p:sp>
      <p:sp>
        <p:nvSpPr>
          <p:cNvPr id="13" name="Shape 13"/>
          <p:cNvSpPr/>
          <p:nvPr/>
        </p:nvSpPr>
        <p:spPr>
          <a:xfrm>
            <a:off x="2414015" y="3108960"/>
            <a:ext cx="438912" cy="18288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2916936" y="2670048"/>
            <a:ext cx="1737360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2916936" y="2670048"/>
            <a:ext cx="54864" cy="877824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081528" y="2816352"/>
            <a:ext cx="144475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Каталог</a:t>
            </a:r>
            <a:endParaRPr lang="ru-RU" sz="1500"/>
          </a:p>
        </p:txBody>
      </p:sp>
      <p:sp>
        <p:nvSpPr>
          <p:cNvPr id="17" name="TextBox 17"/>
          <p:cNvSpPr txBox="1"/>
          <p:nvPr/>
        </p:nvSpPr>
        <p:spPr>
          <a:xfrm>
            <a:off x="3081528" y="3127248"/>
            <a:ext cx="144475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список товаров из API</a:t>
            </a:r>
            <a:endParaRPr lang="ru-RU" sz="1000"/>
          </a:p>
        </p:txBody>
      </p:sp>
      <p:sp>
        <p:nvSpPr>
          <p:cNvPr id="18" name="Shape 18"/>
          <p:cNvSpPr/>
          <p:nvPr/>
        </p:nvSpPr>
        <p:spPr>
          <a:xfrm>
            <a:off x="4672584" y="3108960"/>
            <a:ext cx="438912" cy="18288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5175504" y="2670048"/>
            <a:ext cx="1737360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20" name="Shape 20"/>
          <p:cNvSpPr/>
          <p:nvPr/>
        </p:nvSpPr>
        <p:spPr>
          <a:xfrm>
            <a:off x="5175504" y="2670048"/>
            <a:ext cx="54864" cy="877824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340096" y="2816352"/>
            <a:ext cx="144475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Карточка</a:t>
            </a:r>
            <a:endParaRPr lang="ru-RU" sz="1500"/>
          </a:p>
        </p:txBody>
      </p:sp>
      <p:sp>
        <p:nvSpPr>
          <p:cNvPr id="22" name="TextBox 22"/>
          <p:cNvSpPr txBox="1"/>
          <p:nvPr/>
        </p:nvSpPr>
        <p:spPr>
          <a:xfrm>
            <a:off x="5340096" y="3127248"/>
            <a:ext cx="144475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описание, цена, размеры</a:t>
            </a:r>
            <a:endParaRPr lang="ru-RU" sz="1000"/>
          </a:p>
        </p:txBody>
      </p:sp>
      <p:sp>
        <p:nvSpPr>
          <p:cNvPr id="23" name="Shape 23"/>
          <p:cNvSpPr/>
          <p:nvPr/>
        </p:nvSpPr>
        <p:spPr>
          <a:xfrm>
            <a:off x="6931152" y="3108960"/>
            <a:ext cx="438912" cy="18288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7434072" y="2670048"/>
            <a:ext cx="1737360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25" name="Shape 25"/>
          <p:cNvSpPr/>
          <p:nvPr/>
        </p:nvSpPr>
        <p:spPr>
          <a:xfrm>
            <a:off x="7434072" y="2670048"/>
            <a:ext cx="54864" cy="877824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598664" y="2816352"/>
            <a:ext cx="144475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Корзина</a:t>
            </a:r>
            <a:endParaRPr lang="ru-RU" sz="1500"/>
          </a:p>
        </p:txBody>
      </p:sp>
      <p:sp>
        <p:nvSpPr>
          <p:cNvPr id="27" name="TextBox 27"/>
          <p:cNvSpPr txBox="1"/>
          <p:nvPr/>
        </p:nvSpPr>
        <p:spPr>
          <a:xfrm>
            <a:off x="7598664" y="3127248"/>
            <a:ext cx="144475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товары и сумма заказа</a:t>
            </a:r>
            <a:endParaRPr lang="ru-RU" sz="1000"/>
          </a:p>
        </p:txBody>
      </p:sp>
      <p:sp>
        <p:nvSpPr>
          <p:cNvPr id="28" name="Shape 28"/>
          <p:cNvSpPr/>
          <p:nvPr/>
        </p:nvSpPr>
        <p:spPr>
          <a:xfrm>
            <a:off x="9189720" y="3108960"/>
            <a:ext cx="438912" cy="18288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>
            <a:off x="9692640" y="2670048"/>
            <a:ext cx="1737360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30" name="Shape 30"/>
          <p:cNvSpPr/>
          <p:nvPr/>
        </p:nvSpPr>
        <p:spPr>
          <a:xfrm>
            <a:off x="9692640" y="2670048"/>
            <a:ext cx="54864" cy="877824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857232" y="2816352"/>
            <a:ext cx="144475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Оплата</a:t>
            </a:r>
            <a:endParaRPr lang="ru-RU" sz="1500"/>
          </a:p>
        </p:txBody>
      </p:sp>
      <p:sp>
        <p:nvSpPr>
          <p:cNvPr id="32" name="TextBox 32"/>
          <p:cNvSpPr txBox="1"/>
          <p:nvPr/>
        </p:nvSpPr>
        <p:spPr>
          <a:xfrm>
            <a:off x="9857232" y="3127248"/>
            <a:ext cx="144475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создание заказа и redirect</a:t>
            </a:r>
            <a:endParaRPr lang="ru-RU" sz="1000"/>
          </a:p>
        </p:txBody>
      </p:sp>
      <p:sp>
        <p:nvSpPr>
          <p:cNvPr id="33" name="Shape 33"/>
          <p:cNvSpPr/>
          <p:nvPr/>
        </p:nvSpPr>
        <p:spPr>
          <a:xfrm>
            <a:off x="1143000" y="4462272"/>
            <a:ext cx="4023360" cy="713232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389888" y="464515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76B87"/>
                </a:solidFill>
                <a:latin typeface="Arial"/>
                <a:cs typeface="Arial"/>
              </a:rPr>
              <a:t>Fallback-каталог</a:t>
            </a:r>
            <a:endParaRPr lang="ru-RU" sz="1400"/>
          </a:p>
        </p:txBody>
      </p:sp>
      <p:sp>
        <p:nvSpPr>
          <p:cNvPr id="35" name="TextBox 35"/>
          <p:cNvSpPr txBox="1"/>
          <p:nvPr/>
        </p:nvSpPr>
        <p:spPr>
          <a:xfrm>
            <a:off x="1389888" y="491947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Если API недоступно, интерфейс не пустеет: используются локальные данные из store.ts.</a:t>
            </a:r>
            <a:endParaRPr lang="ru-RU" sz="1000"/>
          </a:p>
        </p:txBody>
      </p:sp>
      <p:sp>
        <p:nvSpPr>
          <p:cNvPr id="36" name="Shape 36"/>
          <p:cNvSpPr/>
          <p:nvPr/>
        </p:nvSpPr>
        <p:spPr>
          <a:xfrm>
            <a:off x="6190488" y="4462272"/>
            <a:ext cx="4069080" cy="713232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437376" y="46451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C47F2C"/>
                </a:solidFill>
                <a:latin typeface="Arial"/>
                <a:cs typeface="Arial"/>
              </a:rPr>
              <a:t>Авторизация</a:t>
            </a:r>
            <a:endParaRPr lang="ru-RU" sz="1400"/>
          </a:p>
        </p:txBody>
      </p:sp>
      <p:sp>
        <p:nvSpPr>
          <p:cNvPr id="38" name="TextBox 38"/>
          <p:cNvSpPr txBox="1"/>
          <p:nvPr/>
        </p:nvSpPr>
        <p:spPr>
          <a:xfrm>
            <a:off x="6437376" y="491947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Токен хранится на клиенте и передается в защищенные запросы через Authorization: Bearer.</a:t>
            </a:r>
            <a:endParaRPr lang="ru-RU" sz="1000"/>
          </a:p>
        </p:txBody>
      </p:sp>
      <p:sp>
        <p:nvSpPr>
          <p:cNvPr id="39" name="Shape 39"/>
          <p:cNvSpPr/>
          <p:nvPr/>
        </p:nvSpPr>
        <p:spPr>
          <a:xfrm>
            <a:off x="548640" y="6080760"/>
            <a:ext cx="10104120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48640" y="629107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4748B"/>
                </a:solidFill>
                <a:latin typeface="Arial"/>
                <a:cs typeface="Arial"/>
              </a:rPr>
              <a:t>Фронтенд: App.tsx, api.ts, useCatalog.ts</a:t>
            </a:r>
            <a:endParaRPr lang="ru-RU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402336" y="411480"/>
            <a:ext cx="73152" cy="73152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7784" y="35661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4748B"/>
                </a:solidFill>
                <a:latin typeface="Arial"/>
                <a:cs typeface="Arial"/>
              </a:rPr>
              <a:t>FRONTEND</a:t>
            </a:r>
            <a:endParaRPr lang="ru-RU" sz="900"/>
          </a:p>
        </p:txBody>
      </p:sp>
      <p:sp>
        <p:nvSpPr>
          <p:cNvPr id="7" name="TextBox 7"/>
          <p:cNvSpPr txBox="1"/>
          <p:nvPr/>
        </p:nvSpPr>
        <p:spPr>
          <a:xfrm>
            <a:off x="11292840" y="63185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04</a:t>
            </a:r>
            <a:endParaRPr lang="ru-RU" sz="1000"/>
          </a:p>
        </p:txBody>
      </p:sp>
      <p:sp>
        <p:nvSpPr>
          <p:cNvPr id="8" name="TextBox 8"/>
          <p:cNvSpPr txBox="1"/>
          <p:nvPr/>
        </p:nvSpPr>
        <p:spPr>
          <a:xfrm>
            <a:off x="548640" y="786384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11827"/>
                </a:solidFill>
                <a:latin typeface="Georgia"/>
                <a:cs typeface="Georgia"/>
              </a:rPr>
              <a:t>Фронтенд разделен на маршруты, компоненты и общий API-клиент.</a:t>
            </a:r>
            <a:endParaRPr lang="ru-RU" sz="3400"/>
          </a:p>
        </p:txBody>
      </p:sp>
      <p:sp>
        <p:nvSpPr>
          <p:cNvPr id="9" name="Shape 9"/>
          <p:cNvSpPr/>
          <p:nvPr/>
        </p:nvSpPr>
        <p:spPr>
          <a:xfrm>
            <a:off x="685800" y="2157984"/>
            <a:ext cx="2670048" cy="2944368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69264" y="249631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 b="1">
                <a:solidFill>
                  <a:srgbClr val="FFFFFF"/>
                </a:solidFill>
                <a:latin typeface="Georgia"/>
                <a:cs typeface="Georgia"/>
              </a:rPr>
              <a:t>React Router</a:t>
            </a:r>
            <a:endParaRPr lang="ru-RU" sz="2200"/>
          </a:p>
        </p:txBody>
      </p:sp>
      <p:sp>
        <p:nvSpPr>
          <p:cNvPr id="11" name="TextBox 11"/>
          <p:cNvSpPr txBox="1"/>
          <p:nvPr/>
        </p:nvSpPr>
        <p:spPr>
          <a:xfrm>
            <a:off x="1005840" y="3035808"/>
            <a:ext cx="1828800" cy="1627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/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/products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/products/:slug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/login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/register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/cart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/wishlist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/payment/success</a:t>
            </a:r>
            <a:endParaRPr lang="ru-RU" sz="1500"/>
          </a:p>
        </p:txBody>
      </p:sp>
      <p:sp>
        <p:nvSpPr>
          <p:cNvPr id="12" name="Shape 12"/>
          <p:cNvSpPr/>
          <p:nvPr/>
        </p:nvSpPr>
        <p:spPr>
          <a:xfrm>
            <a:off x="4096512" y="2157984"/>
            <a:ext cx="3035808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3" name="Shape 13"/>
          <p:cNvSpPr/>
          <p:nvPr/>
        </p:nvSpPr>
        <p:spPr>
          <a:xfrm>
            <a:off x="4096512" y="2157984"/>
            <a:ext cx="54864" cy="877824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261104" y="23042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Компоненты</a:t>
            </a:r>
            <a:endParaRPr lang="ru-RU" sz="1500"/>
          </a:p>
        </p:txBody>
      </p:sp>
      <p:sp>
        <p:nvSpPr>
          <p:cNvPr id="15" name="TextBox 15"/>
          <p:cNvSpPr txBox="1"/>
          <p:nvPr/>
        </p:nvSpPr>
        <p:spPr>
          <a:xfrm>
            <a:off x="4261104" y="2615184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Shop, ProductsPage, ProductDetails, Cart, Wishlist, Login/Register.</a:t>
            </a:r>
            <a:endParaRPr lang="ru-RU" sz="1000"/>
          </a:p>
        </p:txBody>
      </p:sp>
      <p:sp>
        <p:nvSpPr>
          <p:cNvPr id="16" name="Shape 16"/>
          <p:cNvSpPr/>
          <p:nvPr/>
        </p:nvSpPr>
        <p:spPr>
          <a:xfrm>
            <a:off x="4096512" y="3337560"/>
            <a:ext cx="3035808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7" name="Shape 17"/>
          <p:cNvSpPr/>
          <p:nvPr/>
        </p:nvSpPr>
        <p:spPr>
          <a:xfrm>
            <a:off x="4096512" y="3337560"/>
            <a:ext cx="54864" cy="877824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261104" y="348386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Состояние действий</a:t>
            </a:r>
            <a:endParaRPr lang="ru-RU" sz="1500"/>
          </a:p>
        </p:txBody>
      </p:sp>
      <p:sp>
        <p:nvSpPr>
          <p:cNvPr id="19" name="TextBox 19"/>
          <p:cNvSpPr txBox="1"/>
          <p:nvPr/>
        </p:nvSpPr>
        <p:spPr>
          <a:xfrm>
            <a:off x="4261104" y="379476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ShopActionsProvider объединяет действия магазина в одном контексте.</a:t>
            </a:r>
            <a:endParaRPr lang="ru-RU" sz="1000"/>
          </a:p>
        </p:txBody>
      </p:sp>
      <p:sp>
        <p:nvSpPr>
          <p:cNvPr id="20" name="Shape 20"/>
          <p:cNvSpPr/>
          <p:nvPr/>
        </p:nvSpPr>
        <p:spPr>
          <a:xfrm>
            <a:off x="4096512" y="4526280"/>
            <a:ext cx="3035808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096512" y="4526280"/>
            <a:ext cx="54864" cy="877824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261104" y="467258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API-клиент</a:t>
            </a:r>
            <a:endParaRPr lang="ru-RU" sz="1500"/>
          </a:p>
        </p:txBody>
      </p:sp>
      <p:sp>
        <p:nvSpPr>
          <p:cNvPr id="23" name="TextBox 23"/>
          <p:cNvSpPr txBox="1"/>
          <p:nvPr/>
        </p:nvSpPr>
        <p:spPr>
          <a:xfrm>
            <a:off x="4261104" y="498348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api.ts мапит серверные DTO в тип Product и добавляет токен авторизации.</a:t>
            </a:r>
            <a:endParaRPr lang="ru-RU" sz="1000"/>
          </a:p>
        </p:txBody>
      </p:sp>
      <p:sp>
        <p:nvSpPr>
          <p:cNvPr id="24" name="Shape 24"/>
          <p:cNvSpPr/>
          <p:nvPr/>
        </p:nvSpPr>
        <p:spPr>
          <a:xfrm>
            <a:off x="8065008" y="2157984"/>
            <a:ext cx="2852928" cy="2944368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366760" y="24505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 b="1">
                <a:solidFill>
                  <a:srgbClr val="111827"/>
                </a:solidFill>
                <a:latin typeface="Georgia"/>
                <a:cs typeface="Georgia"/>
              </a:rPr>
              <a:t>Почему это удобно</a:t>
            </a:r>
            <a:endParaRPr lang="ru-RU" sz="2200"/>
          </a:p>
        </p:txBody>
      </p:sp>
      <p:sp>
        <p:nvSpPr>
          <p:cNvPr id="26" name="Shape 26"/>
          <p:cNvSpPr/>
          <p:nvPr/>
        </p:nvSpPr>
        <p:spPr>
          <a:xfrm>
            <a:off x="8366760" y="2907792"/>
            <a:ext cx="2011680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75904" y="3163824"/>
            <a:ext cx="2121408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111827"/>
                </a:solidFill>
                <a:latin typeface="Arial"/>
                <a:cs typeface="Arial"/>
              </a:rPr>
              <a:t>1. Каждая страница отвечает за свой экран.</a:t>
            </a:r>
            <a:endParaRPr lang="ru-RU" sz="1200"/>
          </a:p>
          <a:p>
            <a:pPr algn="l"/>
            <a:r>
              <a:rPr lang="ru-RU" sz="1200">
                <a:solidFill>
                  <a:srgbClr val="111827"/>
                </a:solidFill>
                <a:latin typeface="Arial"/>
                <a:cs typeface="Arial"/>
              </a:rPr>
              <a:t>2. API скрыт за одной прослойкой.</a:t>
            </a:r>
            <a:endParaRPr lang="ru-RU" sz="1200"/>
          </a:p>
          <a:p>
            <a:pPr algn="l"/>
            <a:r>
              <a:rPr lang="ru-RU" sz="1200">
                <a:solidFill>
                  <a:srgbClr val="111827"/>
                </a:solidFill>
                <a:latin typeface="Arial"/>
                <a:cs typeface="Arial"/>
              </a:rPr>
              <a:t>3. Типы TypeScript уменьшают риск ошибок.</a:t>
            </a:r>
            <a:endParaRPr lang="ru-RU" sz="1200"/>
          </a:p>
          <a:p>
            <a:pPr algn="l"/>
            <a:r>
              <a:rPr lang="ru-RU" sz="1200">
                <a:solidFill>
                  <a:srgbClr val="111827"/>
                </a:solidFill>
                <a:latin typeface="Arial"/>
                <a:cs typeface="Arial"/>
              </a:rPr>
              <a:t>4. Fallback делает каталог устойчивее.</a:t>
            </a:r>
            <a:endParaRPr lang="ru-RU" sz="1200"/>
          </a:p>
        </p:txBody>
      </p:sp>
      <p:sp>
        <p:nvSpPr>
          <p:cNvPr id="28" name="Shape 28"/>
          <p:cNvSpPr/>
          <p:nvPr/>
        </p:nvSpPr>
        <p:spPr>
          <a:xfrm>
            <a:off x="548640" y="6080760"/>
            <a:ext cx="10104120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48640" y="629107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4748B"/>
                </a:solidFill>
                <a:latin typeface="Arial"/>
                <a:cs typeface="Arial"/>
              </a:rPr>
              <a:t>Фронтенд: React 19, Vite 7, TypeScript, React Router</a:t>
            </a:r>
            <a:endParaRPr lang="ru-RU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402336" y="411480"/>
            <a:ext cx="73152" cy="731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7784" y="35661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4748B"/>
                </a:solidFill>
                <a:latin typeface="Arial"/>
                <a:cs typeface="Arial"/>
              </a:rPr>
              <a:t>BACKEND</a:t>
            </a:r>
            <a:endParaRPr lang="ru-RU" sz="900"/>
          </a:p>
        </p:txBody>
      </p:sp>
      <p:sp>
        <p:nvSpPr>
          <p:cNvPr id="7" name="TextBox 7"/>
          <p:cNvSpPr txBox="1"/>
          <p:nvPr/>
        </p:nvSpPr>
        <p:spPr>
          <a:xfrm>
            <a:off x="11292840" y="63185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05</a:t>
            </a:r>
            <a:endParaRPr lang="ru-RU" sz="1000"/>
          </a:p>
        </p:txBody>
      </p:sp>
      <p:sp>
        <p:nvSpPr>
          <p:cNvPr id="8" name="TextBox 8"/>
          <p:cNvSpPr txBox="1"/>
          <p:nvPr/>
        </p:nvSpPr>
        <p:spPr>
          <a:xfrm>
            <a:off x="548640" y="786384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11827"/>
                </a:solidFill>
                <a:latin typeface="Georgia"/>
                <a:cs typeface="Georgia"/>
              </a:rPr>
              <a:t>Бэкенд закрывает данные, пользователей, заказы и платежный контур.</a:t>
            </a:r>
            <a:endParaRPr lang="ru-RU" sz="3400"/>
          </a:p>
        </p:txBody>
      </p:sp>
      <p:sp>
        <p:nvSpPr>
          <p:cNvPr id="9" name="Shape 9"/>
          <p:cNvSpPr/>
          <p:nvPr/>
        </p:nvSpPr>
        <p:spPr>
          <a:xfrm>
            <a:off x="704088" y="2267712"/>
            <a:ext cx="2852928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04088" y="2267712"/>
            <a:ext cx="54864" cy="877824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68680" y="2414016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FastAPI</a:t>
            </a:r>
            <a:endParaRPr lang="ru-RU" sz="1500"/>
          </a:p>
        </p:txBody>
      </p:sp>
      <p:sp>
        <p:nvSpPr>
          <p:cNvPr id="12" name="TextBox 12"/>
          <p:cNvSpPr txBox="1"/>
          <p:nvPr/>
        </p:nvSpPr>
        <p:spPr>
          <a:xfrm>
            <a:off x="868680" y="272491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Маршруты /api/products, /api/auth, /api/payments и /api/orders.</a:t>
            </a:r>
            <a:endParaRPr lang="ru-RU" sz="1000"/>
          </a:p>
        </p:txBody>
      </p:sp>
      <p:sp>
        <p:nvSpPr>
          <p:cNvPr id="13" name="Shape 13"/>
          <p:cNvSpPr/>
          <p:nvPr/>
        </p:nvSpPr>
        <p:spPr>
          <a:xfrm>
            <a:off x="4663440" y="2267712"/>
            <a:ext cx="2852928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663440" y="2267712"/>
            <a:ext cx="54864" cy="877824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828031" y="2414016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SQLAlchemy</a:t>
            </a:r>
            <a:endParaRPr lang="ru-RU" sz="1500"/>
          </a:p>
        </p:txBody>
      </p:sp>
      <p:sp>
        <p:nvSpPr>
          <p:cNvPr id="16" name="TextBox 16"/>
          <p:cNvSpPr txBox="1"/>
          <p:nvPr/>
        </p:nvSpPr>
        <p:spPr>
          <a:xfrm>
            <a:off x="4828031" y="272491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Модели User, Product, Category, Order и OrderItem.</a:t>
            </a:r>
            <a:endParaRPr lang="ru-RU" sz="1000"/>
          </a:p>
        </p:txBody>
      </p:sp>
      <p:sp>
        <p:nvSpPr>
          <p:cNvPr id="17" name="Shape 17"/>
          <p:cNvSpPr/>
          <p:nvPr/>
        </p:nvSpPr>
        <p:spPr>
          <a:xfrm>
            <a:off x="8631936" y="2267712"/>
            <a:ext cx="2852928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631936" y="2267712"/>
            <a:ext cx="54864" cy="877824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796528" y="2414016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SQLite</a:t>
            </a:r>
            <a:endParaRPr lang="ru-RU" sz="1500"/>
          </a:p>
        </p:txBody>
      </p:sp>
      <p:sp>
        <p:nvSpPr>
          <p:cNvPr id="20" name="TextBox 20"/>
          <p:cNvSpPr txBox="1"/>
          <p:nvPr/>
        </p:nvSpPr>
        <p:spPr>
          <a:xfrm>
            <a:off x="8796528" y="272491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Локальная база, автосоздание таблиц и seed-данные при старте.</a:t>
            </a:r>
            <a:endParaRPr lang="ru-RU" sz="1000"/>
          </a:p>
        </p:txBody>
      </p:sp>
      <p:sp>
        <p:nvSpPr>
          <p:cNvPr id="21" name="Shape 21"/>
          <p:cNvSpPr/>
          <p:nvPr/>
        </p:nvSpPr>
        <p:spPr>
          <a:xfrm>
            <a:off x="3557016" y="2724912"/>
            <a:ext cx="1097280" cy="18288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7516368" y="2724912"/>
            <a:ext cx="1097280" cy="18288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005840" y="4005072"/>
            <a:ext cx="4517136" cy="914400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261872" y="4242816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76B87"/>
                </a:solidFill>
                <a:latin typeface="Arial"/>
                <a:cs typeface="Arial"/>
              </a:rPr>
              <a:t>Авторизация</a:t>
            </a:r>
            <a:endParaRPr lang="ru-RU" sz="1500"/>
          </a:p>
        </p:txBody>
      </p:sp>
      <p:sp>
        <p:nvSpPr>
          <p:cNvPr id="25" name="TextBox 25"/>
          <p:cNvSpPr txBox="1"/>
          <p:nvPr/>
        </p:nvSpPr>
        <p:spPr>
          <a:xfrm>
            <a:off x="1261872" y="455371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Регистрация, вход, хэширование пароля, access token и защищенный /api/auth/me.</a:t>
            </a:r>
            <a:endParaRPr lang="ru-RU" sz="1000"/>
          </a:p>
        </p:txBody>
      </p:sp>
      <p:sp>
        <p:nvSpPr>
          <p:cNvPr id="26" name="Shape 26"/>
          <p:cNvSpPr/>
          <p:nvPr/>
        </p:nvSpPr>
        <p:spPr>
          <a:xfrm>
            <a:off x="6656832" y="4005072"/>
            <a:ext cx="4517136" cy="914400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912864" y="4242816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C47F2C"/>
                </a:solidFill>
                <a:latin typeface="Arial"/>
                <a:cs typeface="Arial"/>
              </a:rPr>
              <a:t>Оплата</a:t>
            </a:r>
            <a:endParaRPr lang="ru-RU" sz="1500"/>
          </a:p>
        </p:txBody>
      </p:sp>
      <p:sp>
        <p:nvSpPr>
          <p:cNvPr id="28" name="TextBox 28"/>
          <p:cNvSpPr txBox="1"/>
          <p:nvPr/>
        </p:nvSpPr>
        <p:spPr>
          <a:xfrm>
            <a:off x="6912864" y="455371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Создание заказа, YooKassa confirmation_url и webhook для обновления статуса.</a:t>
            </a:r>
            <a:endParaRPr lang="ru-RU" sz="1000"/>
          </a:p>
        </p:txBody>
      </p:sp>
      <p:sp>
        <p:nvSpPr>
          <p:cNvPr id="29" name="Shape 29"/>
          <p:cNvSpPr/>
          <p:nvPr/>
        </p:nvSpPr>
        <p:spPr>
          <a:xfrm>
            <a:off x="548640" y="6080760"/>
            <a:ext cx="10104120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48640" y="629107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4748B"/>
                </a:solidFill>
                <a:latin typeface="Arial"/>
                <a:cs typeface="Arial"/>
              </a:rPr>
              <a:t>Бэкенд: main.py, crud.py, models.py, payments.py</a:t>
            </a:r>
            <a:endParaRPr lang="ru-RU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402336" y="411480"/>
            <a:ext cx="73152" cy="73152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7784" y="35661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4748B"/>
                </a:solidFill>
                <a:latin typeface="Arial"/>
                <a:cs typeface="Arial"/>
              </a:rPr>
              <a:t>API И ДАННЫЕ</a:t>
            </a:r>
            <a:endParaRPr lang="ru-RU" sz="900"/>
          </a:p>
        </p:txBody>
      </p:sp>
      <p:sp>
        <p:nvSpPr>
          <p:cNvPr id="7" name="TextBox 7"/>
          <p:cNvSpPr txBox="1"/>
          <p:nvPr/>
        </p:nvSpPr>
        <p:spPr>
          <a:xfrm>
            <a:off x="11292840" y="63185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06</a:t>
            </a:r>
            <a:endParaRPr lang="ru-RU" sz="1000"/>
          </a:p>
        </p:txBody>
      </p:sp>
      <p:sp>
        <p:nvSpPr>
          <p:cNvPr id="8" name="TextBox 8"/>
          <p:cNvSpPr txBox="1"/>
          <p:nvPr/>
        </p:nvSpPr>
        <p:spPr>
          <a:xfrm>
            <a:off x="548640" y="786384"/>
            <a:ext cx="7955279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11827"/>
                </a:solidFill>
                <a:latin typeface="Georgia"/>
                <a:cs typeface="Georgia"/>
              </a:rPr>
              <a:t>API показывает, как интерфейс связан с серверной логикой.</a:t>
            </a:r>
            <a:endParaRPr lang="ru-RU" sz="3400"/>
          </a:p>
        </p:txBody>
      </p:sp>
      <p:sp>
        <p:nvSpPr>
          <p:cNvPr id="9" name="Shape 9"/>
          <p:cNvSpPr/>
          <p:nvPr/>
        </p:nvSpPr>
        <p:spPr>
          <a:xfrm>
            <a:off x="685800" y="2057400"/>
            <a:ext cx="6190488" cy="2852928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0976" y="2322576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Метод</a:t>
            </a:r>
            <a:endParaRPr lang="ru-RU" sz="1000"/>
          </a:p>
        </p:txBody>
      </p:sp>
      <p:sp>
        <p:nvSpPr>
          <p:cNvPr id="11" name="TextBox 11"/>
          <p:cNvSpPr txBox="1"/>
          <p:nvPr/>
        </p:nvSpPr>
        <p:spPr>
          <a:xfrm>
            <a:off x="1975104" y="232257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Endpoint</a:t>
            </a:r>
            <a:endParaRPr lang="ru-RU" sz="1000"/>
          </a:p>
        </p:txBody>
      </p:sp>
      <p:sp>
        <p:nvSpPr>
          <p:cNvPr id="12" name="TextBox 12"/>
          <p:cNvSpPr txBox="1"/>
          <p:nvPr/>
        </p:nvSpPr>
        <p:spPr>
          <a:xfrm>
            <a:off x="4526280" y="2322576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Зачем нужен</a:t>
            </a:r>
            <a:endParaRPr lang="ru-RU" sz="1000"/>
          </a:p>
        </p:txBody>
      </p:sp>
      <p:sp>
        <p:nvSpPr>
          <p:cNvPr id="13" name="Shape 13"/>
          <p:cNvSpPr/>
          <p:nvPr/>
        </p:nvSpPr>
        <p:spPr>
          <a:xfrm>
            <a:off x="950976" y="2633472"/>
            <a:ext cx="5468112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50976" y="272491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 b="1">
                <a:solidFill>
                  <a:srgbClr val="176B87"/>
                </a:solidFill>
                <a:latin typeface="Arial"/>
                <a:cs typeface="Arial"/>
              </a:rPr>
              <a:t>GET</a:t>
            </a:r>
            <a:endParaRPr lang="ru-RU" sz="1000"/>
          </a:p>
        </p:txBody>
      </p:sp>
      <p:sp>
        <p:nvSpPr>
          <p:cNvPr id="15" name="TextBox 15"/>
          <p:cNvSpPr txBox="1"/>
          <p:nvPr/>
        </p:nvSpPr>
        <p:spPr>
          <a:xfrm>
            <a:off x="1975104" y="2724912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111827"/>
                </a:solidFill>
                <a:latin typeface="Arial"/>
                <a:cs typeface="Arial"/>
              </a:rPr>
              <a:t>/api/products</a:t>
            </a:r>
            <a:endParaRPr lang="ru-RU" sz="1000"/>
          </a:p>
        </p:txBody>
      </p:sp>
      <p:sp>
        <p:nvSpPr>
          <p:cNvPr id="16" name="TextBox 16"/>
          <p:cNvSpPr txBox="1"/>
          <p:nvPr/>
        </p:nvSpPr>
        <p:spPr>
          <a:xfrm>
            <a:off x="4526280" y="2724912"/>
            <a:ext cx="1737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получить каталог</a:t>
            </a:r>
            <a:endParaRPr lang="ru-RU" sz="1000"/>
          </a:p>
        </p:txBody>
      </p:sp>
      <p:sp>
        <p:nvSpPr>
          <p:cNvPr id="17" name="Shape 17"/>
          <p:cNvSpPr/>
          <p:nvPr/>
        </p:nvSpPr>
        <p:spPr>
          <a:xfrm>
            <a:off x="950976" y="2980944"/>
            <a:ext cx="5468112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50976" y="307238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 b="1">
                <a:solidFill>
                  <a:srgbClr val="176B87"/>
                </a:solidFill>
                <a:latin typeface="Arial"/>
                <a:cs typeface="Arial"/>
              </a:rPr>
              <a:t>GET</a:t>
            </a:r>
            <a:endParaRPr lang="ru-RU" sz="1000"/>
          </a:p>
        </p:txBody>
      </p:sp>
      <p:sp>
        <p:nvSpPr>
          <p:cNvPr id="19" name="TextBox 19"/>
          <p:cNvSpPr txBox="1"/>
          <p:nvPr/>
        </p:nvSpPr>
        <p:spPr>
          <a:xfrm>
            <a:off x="1975104" y="3072384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111827"/>
                </a:solidFill>
                <a:latin typeface="Arial"/>
                <a:cs typeface="Arial"/>
              </a:rPr>
              <a:t>/api/products/{slug}</a:t>
            </a:r>
            <a:endParaRPr lang="ru-RU" sz="1000"/>
          </a:p>
        </p:txBody>
      </p:sp>
      <p:sp>
        <p:nvSpPr>
          <p:cNvPr id="20" name="TextBox 20"/>
          <p:cNvSpPr txBox="1"/>
          <p:nvPr/>
        </p:nvSpPr>
        <p:spPr>
          <a:xfrm>
            <a:off x="4526280" y="3072384"/>
            <a:ext cx="1737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открыть карточку товара</a:t>
            </a:r>
            <a:endParaRPr lang="ru-RU" sz="1000"/>
          </a:p>
        </p:txBody>
      </p:sp>
      <p:sp>
        <p:nvSpPr>
          <p:cNvPr id="21" name="Shape 21"/>
          <p:cNvSpPr/>
          <p:nvPr/>
        </p:nvSpPr>
        <p:spPr>
          <a:xfrm>
            <a:off x="950976" y="3328416"/>
            <a:ext cx="5468112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50976" y="34198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 b="1">
                <a:solidFill>
                  <a:srgbClr val="C47F2C"/>
                </a:solidFill>
                <a:latin typeface="Arial"/>
                <a:cs typeface="Arial"/>
              </a:rPr>
              <a:t>POST</a:t>
            </a:r>
            <a:endParaRPr lang="ru-RU" sz="1000"/>
          </a:p>
        </p:txBody>
      </p:sp>
      <p:sp>
        <p:nvSpPr>
          <p:cNvPr id="23" name="TextBox 23"/>
          <p:cNvSpPr txBox="1"/>
          <p:nvPr/>
        </p:nvSpPr>
        <p:spPr>
          <a:xfrm>
            <a:off x="1975104" y="3419856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111827"/>
                </a:solidFill>
                <a:latin typeface="Arial"/>
                <a:cs typeface="Arial"/>
              </a:rPr>
              <a:t>/api/auth/register</a:t>
            </a:r>
            <a:endParaRPr lang="ru-RU" sz="1000"/>
          </a:p>
        </p:txBody>
      </p:sp>
      <p:sp>
        <p:nvSpPr>
          <p:cNvPr id="24" name="TextBox 24"/>
          <p:cNvSpPr txBox="1"/>
          <p:nvPr/>
        </p:nvSpPr>
        <p:spPr>
          <a:xfrm>
            <a:off x="4526280" y="3419856"/>
            <a:ext cx="1737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создать пользователя</a:t>
            </a:r>
            <a:endParaRPr lang="ru-RU" sz="1000"/>
          </a:p>
        </p:txBody>
      </p:sp>
      <p:sp>
        <p:nvSpPr>
          <p:cNvPr id="25" name="Shape 25"/>
          <p:cNvSpPr/>
          <p:nvPr/>
        </p:nvSpPr>
        <p:spPr>
          <a:xfrm>
            <a:off x="950976" y="3675888"/>
            <a:ext cx="5468112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50976" y="3767328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 b="1">
                <a:solidFill>
                  <a:srgbClr val="C47F2C"/>
                </a:solidFill>
                <a:latin typeface="Arial"/>
                <a:cs typeface="Arial"/>
              </a:rPr>
              <a:t>POST</a:t>
            </a:r>
            <a:endParaRPr lang="ru-RU" sz="1000"/>
          </a:p>
        </p:txBody>
      </p:sp>
      <p:sp>
        <p:nvSpPr>
          <p:cNvPr id="27" name="TextBox 27"/>
          <p:cNvSpPr txBox="1"/>
          <p:nvPr/>
        </p:nvSpPr>
        <p:spPr>
          <a:xfrm>
            <a:off x="1975104" y="3767328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111827"/>
                </a:solidFill>
                <a:latin typeface="Arial"/>
                <a:cs typeface="Arial"/>
              </a:rPr>
              <a:t>/api/auth/login</a:t>
            </a:r>
            <a:endParaRPr lang="ru-RU" sz="1000"/>
          </a:p>
        </p:txBody>
      </p:sp>
      <p:sp>
        <p:nvSpPr>
          <p:cNvPr id="28" name="TextBox 28"/>
          <p:cNvSpPr txBox="1"/>
          <p:nvPr/>
        </p:nvSpPr>
        <p:spPr>
          <a:xfrm>
            <a:off x="4526280" y="3767328"/>
            <a:ext cx="1737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получить токен входа</a:t>
            </a:r>
            <a:endParaRPr lang="ru-RU" sz="1000"/>
          </a:p>
        </p:txBody>
      </p:sp>
      <p:sp>
        <p:nvSpPr>
          <p:cNvPr id="29" name="Shape 29"/>
          <p:cNvSpPr/>
          <p:nvPr/>
        </p:nvSpPr>
        <p:spPr>
          <a:xfrm>
            <a:off x="950976" y="4023360"/>
            <a:ext cx="5468112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50976" y="4114800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 b="1">
                <a:solidFill>
                  <a:srgbClr val="C47F2C"/>
                </a:solidFill>
                <a:latin typeface="Arial"/>
                <a:cs typeface="Arial"/>
              </a:rPr>
              <a:t>POST</a:t>
            </a:r>
            <a:endParaRPr lang="ru-RU" sz="1000"/>
          </a:p>
        </p:txBody>
      </p:sp>
      <p:sp>
        <p:nvSpPr>
          <p:cNvPr id="31" name="TextBox 31"/>
          <p:cNvSpPr txBox="1"/>
          <p:nvPr/>
        </p:nvSpPr>
        <p:spPr>
          <a:xfrm>
            <a:off x="1975104" y="4114800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111827"/>
                </a:solidFill>
                <a:latin typeface="Arial"/>
                <a:cs typeface="Arial"/>
              </a:rPr>
              <a:t>/api/payments</a:t>
            </a:r>
            <a:endParaRPr lang="ru-RU" sz="1000"/>
          </a:p>
        </p:txBody>
      </p:sp>
      <p:sp>
        <p:nvSpPr>
          <p:cNvPr id="32" name="TextBox 32"/>
          <p:cNvSpPr txBox="1"/>
          <p:nvPr/>
        </p:nvSpPr>
        <p:spPr>
          <a:xfrm>
            <a:off x="4526280" y="4114800"/>
            <a:ext cx="1737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создать заказ и платеж</a:t>
            </a:r>
            <a:endParaRPr lang="ru-RU" sz="1000"/>
          </a:p>
        </p:txBody>
      </p:sp>
      <p:sp>
        <p:nvSpPr>
          <p:cNvPr id="33" name="Shape 33"/>
          <p:cNvSpPr/>
          <p:nvPr/>
        </p:nvSpPr>
        <p:spPr>
          <a:xfrm>
            <a:off x="950976" y="4370832"/>
            <a:ext cx="5468112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50976" y="446227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 b="1">
                <a:solidFill>
                  <a:srgbClr val="176B87"/>
                </a:solidFill>
                <a:latin typeface="Arial"/>
                <a:cs typeface="Arial"/>
              </a:rPr>
              <a:t>GET</a:t>
            </a:r>
            <a:endParaRPr lang="ru-RU" sz="1000"/>
          </a:p>
        </p:txBody>
      </p:sp>
      <p:sp>
        <p:nvSpPr>
          <p:cNvPr id="35" name="TextBox 35"/>
          <p:cNvSpPr txBox="1"/>
          <p:nvPr/>
        </p:nvSpPr>
        <p:spPr>
          <a:xfrm>
            <a:off x="1975104" y="4462272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111827"/>
                </a:solidFill>
                <a:latin typeface="Arial"/>
                <a:cs typeface="Arial"/>
              </a:rPr>
              <a:t>/api/orders/{order_id}</a:t>
            </a:r>
            <a:endParaRPr lang="ru-RU" sz="1000"/>
          </a:p>
        </p:txBody>
      </p:sp>
      <p:sp>
        <p:nvSpPr>
          <p:cNvPr id="36" name="TextBox 36"/>
          <p:cNvSpPr txBox="1"/>
          <p:nvPr/>
        </p:nvSpPr>
        <p:spPr>
          <a:xfrm>
            <a:off x="4526280" y="4462272"/>
            <a:ext cx="1737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прочитать статус заказа</a:t>
            </a:r>
            <a:endParaRPr lang="ru-RU" sz="1000"/>
          </a:p>
        </p:txBody>
      </p:sp>
      <p:sp>
        <p:nvSpPr>
          <p:cNvPr id="37" name="Shape 37"/>
          <p:cNvSpPr/>
          <p:nvPr/>
        </p:nvSpPr>
        <p:spPr>
          <a:xfrm>
            <a:off x="7790688" y="2057400"/>
            <a:ext cx="3017520" cy="2852928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092440" y="234086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 b="1">
                <a:solidFill>
                  <a:srgbClr val="FFFFFF"/>
                </a:solidFill>
                <a:latin typeface="Georgia"/>
                <a:cs typeface="Georgia"/>
              </a:rPr>
              <a:t>Модель данных</a:t>
            </a:r>
            <a:endParaRPr lang="ru-RU" sz="2200"/>
          </a:p>
        </p:txBody>
      </p:sp>
      <p:sp>
        <p:nvSpPr>
          <p:cNvPr id="39" name="TextBox 39"/>
          <p:cNvSpPr txBox="1"/>
          <p:nvPr/>
        </p:nvSpPr>
        <p:spPr>
          <a:xfrm>
            <a:off x="8092440" y="2889504"/>
            <a:ext cx="164592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DDE7F2"/>
                </a:solidFill>
                <a:latin typeface="Arial"/>
                <a:cs typeface="Arial"/>
              </a:rPr>
              <a:t>User</a:t>
            </a:r>
            <a:endParaRPr lang="ru-RU" sz="1600"/>
          </a:p>
          <a:p>
            <a:pPr algn="l"/>
            <a:r>
              <a:rPr lang="ru-RU" sz="1600">
                <a:solidFill>
                  <a:srgbClr val="DDE7F2"/>
                </a:solidFill>
                <a:latin typeface="Arial"/>
                <a:cs typeface="Arial"/>
              </a:rPr>
              <a:t>Product</a:t>
            </a:r>
            <a:endParaRPr lang="ru-RU" sz="1600"/>
          </a:p>
          <a:p>
            <a:pPr algn="l"/>
            <a:r>
              <a:rPr lang="ru-RU" sz="1600">
                <a:solidFill>
                  <a:srgbClr val="DDE7F2"/>
                </a:solidFill>
                <a:latin typeface="Arial"/>
                <a:cs typeface="Arial"/>
              </a:rPr>
              <a:t>Category</a:t>
            </a:r>
            <a:endParaRPr lang="ru-RU" sz="1600"/>
          </a:p>
          <a:p>
            <a:pPr algn="l"/>
            <a:r>
              <a:rPr lang="ru-RU" sz="1600">
                <a:solidFill>
                  <a:srgbClr val="DDE7F2"/>
                </a:solidFill>
                <a:latin typeface="Arial"/>
                <a:cs typeface="Arial"/>
              </a:rPr>
              <a:t>ProductImage</a:t>
            </a:r>
            <a:endParaRPr lang="ru-RU" sz="1600"/>
          </a:p>
          <a:p>
            <a:pPr algn="l"/>
            <a:r>
              <a:rPr lang="ru-RU" sz="1600">
                <a:solidFill>
                  <a:srgbClr val="DDE7F2"/>
                </a:solidFill>
                <a:latin typeface="Arial"/>
                <a:cs typeface="Arial"/>
              </a:rPr>
              <a:t>ProductSize</a:t>
            </a:r>
            <a:endParaRPr lang="ru-RU" sz="1600"/>
          </a:p>
          <a:p>
            <a:pPr algn="l"/>
            <a:r>
              <a:rPr lang="ru-RU" sz="1600">
                <a:solidFill>
                  <a:srgbClr val="DDE7F2"/>
                </a:solidFill>
                <a:latin typeface="Arial"/>
                <a:cs typeface="Arial"/>
              </a:rPr>
              <a:t>Order</a:t>
            </a:r>
            <a:endParaRPr lang="ru-RU" sz="1600"/>
          </a:p>
          <a:p>
            <a:pPr algn="l"/>
            <a:r>
              <a:rPr lang="ru-RU" sz="1600">
                <a:solidFill>
                  <a:srgbClr val="DDE7F2"/>
                </a:solidFill>
                <a:latin typeface="Arial"/>
                <a:cs typeface="Arial"/>
              </a:rPr>
              <a:t>OrderItem</a:t>
            </a:r>
            <a:endParaRPr lang="ru-RU" sz="1600"/>
          </a:p>
        </p:txBody>
      </p:sp>
      <p:sp>
        <p:nvSpPr>
          <p:cNvPr id="40" name="Shape 40"/>
          <p:cNvSpPr/>
          <p:nvPr/>
        </p:nvSpPr>
        <p:spPr>
          <a:xfrm>
            <a:off x="9738360" y="3218688"/>
            <a:ext cx="594360" cy="594360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41" name="Shape 41"/>
          <p:cNvSpPr/>
          <p:nvPr/>
        </p:nvSpPr>
        <p:spPr>
          <a:xfrm>
            <a:off x="10058400" y="3566160"/>
            <a:ext cx="594360" cy="594360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42" name="Shape 42"/>
          <p:cNvSpPr/>
          <p:nvPr/>
        </p:nvSpPr>
        <p:spPr>
          <a:xfrm>
            <a:off x="548640" y="6080760"/>
            <a:ext cx="10104120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48640" y="629107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4748B"/>
                </a:solidFill>
                <a:latin typeface="Arial"/>
                <a:cs typeface="Arial"/>
              </a:rPr>
              <a:t>README.md: список публичных API endpoints</a:t>
            </a:r>
            <a:endParaRPr lang="ru-RU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402336" y="411480"/>
            <a:ext cx="73152" cy="731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7784" y="35661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4748B"/>
                </a:solidFill>
                <a:latin typeface="Arial"/>
                <a:cs typeface="Arial"/>
              </a:rPr>
              <a:t>ЗАПУСК И ДЕПЛОЙ</a:t>
            </a:r>
            <a:endParaRPr lang="ru-RU" sz="900"/>
          </a:p>
        </p:txBody>
      </p:sp>
      <p:sp>
        <p:nvSpPr>
          <p:cNvPr id="7" name="TextBox 7"/>
          <p:cNvSpPr txBox="1"/>
          <p:nvPr/>
        </p:nvSpPr>
        <p:spPr>
          <a:xfrm>
            <a:off x="11292840" y="63185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07</a:t>
            </a:r>
            <a:endParaRPr lang="ru-RU" sz="1000"/>
          </a:p>
        </p:txBody>
      </p:sp>
      <p:sp>
        <p:nvSpPr>
          <p:cNvPr id="8" name="TextBox 8"/>
          <p:cNvSpPr txBox="1"/>
          <p:nvPr/>
        </p:nvSpPr>
        <p:spPr>
          <a:xfrm>
            <a:off x="548640" y="786384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11827"/>
                </a:solidFill>
                <a:latin typeface="Georgia"/>
                <a:cs typeface="Georgia"/>
              </a:rPr>
              <a:t>Проект подготовлен к локальному запуску и контейнерному деплою.</a:t>
            </a:r>
            <a:endParaRPr lang="ru-RU" sz="3400"/>
          </a:p>
        </p:txBody>
      </p:sp>
      <p:sp>
        <p:nvSpPr>
          <p:cNvPr id="9" name="Shape 9"/>
          <p:cNvSpPr/>
          <p:nvPr/>
        </p:nvSpPr>
        <p:spPr>
          <a:xfrm>
            <a:off x="795528" y="2340864"/>
            <a:ext cx="3044952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95528" y="2340864"/>
            <a:ext cx="54864" cy="877824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60120" y="2487168"/>
            <a:ext cx="2752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Локально</a:t>
            </a:r>
            <a:endParaRPr lang="ru-RU" sz="1500"/>
          </a:p>
        </p:txBody>
      </p:sp>
      <p:sp>
        <p:nvSpPr>
          <p:cNvPr id="12" name="TextBox 12"/>
          <p:cNvSpPr txBox="1"/>
          <p:nvPr/>
        </p:nvSpPr>
        <p:spPr>
          <a:xfrm>
            <a:off x="960120" y="2798064"/>
            <a:ext cx="27523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Backend: uvicorn на 8000. Frontend: Vite dev server с VITE_API_BASE_URL.</a:t>
            </a:r>
            <a:endParaRPr lang="ru-RU" sz="1000"/>
          </a:p>
        </p:txBody>
      </p:sp>
      <p:sp>
        <p:nvSpPr>
          <p:cNvPr id="13" name="Shape 13"/>
          <p:cNvSpPr/>
          <p:nvPr/>
        </p:nvSpPr>
        <p:spPr>
          <a:xfrm>
            <a:off x="4572000" y="2340864"/>
            <a:ext cx="3044952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572000" y="2340864"/>
            <a:ext cx="54864" cy="877824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36592" y="2487168"/>
            <a:ext cx="2752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Docker</a:t>
            </a:r>
            <a:endParaRPr lang="ru-RU" sz="1500"/>
          </a:p>
        </p:txBody>
      </p:sp>
      <p:sp>
        <p:nvSpPr>
          <p:cNvPr id="16" name="TextBox 16"/>
          <p:cNvSpPr txBox="1"/>
          <p:nvPr/>
        </p:nvSpPr>
        <p:spPr>
          <a:xfrm>
            <a:off x="4736592" y="2798064"/>
            <a:ext cx="27523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Отдельные Dockerfile для backend и frontend; nginx проксирует /api/*.</a:t>
            </a:r>
            <a:endParaRPr lang="ru-RU" sz="1000"/>
          </a:p>
        </p:txBody>
      </p:sp>
      <p:sp>
        <p:nvSpPr>
          <p:cNvPr id="17" name="Shape 17"/>
          <p:cNvSpPr/>
          <p:nvPr/>
        </p:nvSpPr>
        <p:spPr>
          <a:xfrm>
            <a:off x="8339327" y="2340864"/>
            <a:ext cx="3044952" cy="877824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339327" y="2340864"/>
            <a:ext cx="54864" cy="877824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503919" y="2487168"/>
            <a:ext cx="2752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11827"/>
                </a:solidFill>
                <a:latin typeface="Arial"/>
                <a:cs typeface="Arial"/>
              </a:rPr>
              <a:t>Coolify</a:t>
            </a:r>
            <a:endParaRPr lang="ru-RU" sz="1500"/>
          </a:p>
        </p:txBody>
      </p:sp>
      <p:sp>
        <p:nvSpPr>
          <p:cNvPr id="20" name="TextBox 20"/>
          <p:cNvSpPr txBox="1"/>
          <p:nvPr/>
        </p:nvSpPr>
        <p:spPr>
          <a:xfrm>
            <a:off x="8503919" y="2798064"/>
            <a:ext cx="27523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4748B"/>
                </a:solidFill>
                <a:latin typeface="Arial"/>
                <a:cs typeface="Arial"/>
              </a:rPr>
              <a:t>Два сервиса, persistent storage для /app/data и переменные окружения.</a:t>
            </a:r>
            <a:endParaRPr lang="ru-RU" sz="1000"/>
          </a:p>
        </p:txBody>
      </p:sp>
      <p:sp>
        <p:nvSpPr>
          <p:cNvPr id="21" name="Shape 21"/>
          <p:cNvSpPr/>
          <p:nvPr/>
        </p:nvSpPr>
        <p:spPr>
          <a:xfrm>
            <a:off x="1426464" y="4096512"/>
            <a:ext cx="9354312" cy="841248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755648" y="43159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176B87"/>
                </a:solidFill>
                <a:latin typeface="Arial"/>
                <a:cs typeface="Arial"/>
              </a:rPr>
              <a:t>Конфигурация вынесена наружу</a:t>
            </a:r>
            <a:endParaRPr lang="ru-RU" sz="1500"/>
          </a:p>
        </p:txBody>
      </p:sp>
      <p:sp>
        <p:nvSpPr>
          <p:cNvPr id="23" name="TextBox 23"/>
          <p:cNvSpPr txBox="1"/>
          <p:nvPr/>
        </p:nvSpPr>
        <p:spPr>
          <a:xfrm>
            <a:off x="1755648" y="463600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64748B"/>
                </a:solidFill>
                <a:latin typeface="Arial"/>
                <a:cs typeface="Arial"/>
              </a:rPr>
              <a:t>DATABASE_URL, CLOUDMARKET_DATA_DIR, CLOUDMARKET_ALLOWED_ORIGINS, FRONTEND_BASE_URL, YOOKASSA_SHOP_ID и YOOKASSA_SECRET_KEY позволяют менять окружение без изменения кода.</a:t>
            </a:r>
            <a:endParaRPr lang="ru-RU" sz="1100"/>
          </a:p>
        </p:txBody>
      </p:sp>
      <p:sp>
        <p:nvSpPr>
          <p:cNvPr id="24" name="Shape 24"/>
          <p:cNvSpPr/>
          <p:nvPr/>
        </p:nvSpPr>
        <p:spPr>
          <a:xfrm>
            <a:off x="548640" y="6080760"/>
            <a:ext cx="10104120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48640" y="629107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4748B"/>
                </a:solidFill>
                <a:latin typeface="Arial"/>
                <a:cs typeface="Arial"/>
              </a:rPr>
              <a:t>README.md и Dockerfile: production notes + Coolify deployment</a:t>
            </a:r>
            <a:endParaRPr lang="ru-RU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402336" y="411480"/>
            <a:ext cx="73152" cy="73152"/>
          </a:xfrm>
          <a:prstGeom prst="rect">
            <a:avLst/>
          </a:prstGeom>
          <a:solidFill>
            <a:srgbClr val="C47F2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7784" y="35661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4748B"/>
                </a:solidFill>
                <a:latin typeface="Arial"/>
                <a:cs typeface="Arial"/>
              </a:rPr>
              <a:t>ИТОГ</a:t>
            </a:r>
            <a:endParaRPr lang="ru-RU" sz="900"/>
          </a:p>
        </p:txBody>
      </p:sp>
      <p:sp>
        <p:nvSpPr>
          <p:cNvPr id="7" name="TextBox 7"/>
          <p:cNvSpPr txBox="1"/>
          <p:nvPr/>
        </p:nvSpPr>
        <p:spPr>
          <a:xfrm>
            <a:off x="11292840" y="63185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08</a:t>
            </a:r>
            <a:endParaRPr lang="ru-RU" sz="1000"/>
          </a:p>
        </p:txBody>
      </p:sp>
      <p:sp>
        <p:nvSpPr>
          <p:cNvPr id="8" name="TextBox 8"/>
          <p:cNvSpPr txBox="1"/>
          <p:nvPr/>
        </p:nvSpPr>
        <p:spPr>
          <a:xfrm>
            <a:off x="548640" y="786384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11827"/>
                </a:solidFill>
                <a:latin typeface="Georgia"/>
                <a:cs typeface="Georgia"/>
              </a:rPr>
              <a:t>CloudMarket показывает полный набор практических fullstack-навыков.</a:t>
            </a:r>
            <a:endParaRPr lang="ru-RU" sz="3400"/>
          </a:p>
        </p:txBody>
      </p:sp>
      <p:sp>
        <p:nvSpPr>
          <p:cNvPr id="9" name="Shape 9"/>
          <p:cNvSpPr/>
          <p:nvPr/>
        </p:nvSpPr>
        <p:spPr>
          <a:xfrm>
            <a:off x="749808" y="2212848"/>
            <a:ext cx="3236976" cy="242316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69848" y="25054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FFFFFF"/>
                </a:solidFill>
                <a:latin typeface="Georgia"/>
                <a:cs typeface="Georgia"/>
              </a:rPr>
              <a:t>Что уже есть</a:t>
            </a:r>
            <a:endParaRPr lang="ru-RU" sz="2400"/>
          </a:p>
        </p:txBody>
      </p:sp>
      <p:sp>
        <p:nvSpPr>
          <p:cNvPr id="11" name="TextBox 11"/>
          <p:cNvSpPr txBox="1"/>
          <p:nvPr/>
        </p:nvSpPr>
        <p:spPr>
          <a:xfrm>
            <a:off x="1078992" y="3054096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Каталог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Детальная страница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Регистрация и вход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Корзина и избранное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Заказы и платежный сценарий</a:t>
            </a:r>
            <a:endParaRPr lang="ru-RU" sz="1500"/>
          </a:p>
        </p:txBody>
      </p:sp>
      <p:sp>
        <p:nvSpPr>
          <p:cNvPr id="12" name="Shape 12"/>
          <p:cNvSpPr/>
          <p:nvPr/>
        </p:nvSpPr>
        <p:spPr>
          <a:xfrm>
            <a:off x="4754880" y="2212848"/>
            <a:ext cx="3236976" cy="2423160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084064" y="25054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11827"/>
                </a:solidFill>
                <a:latin typeface="Georgia"/>
                <a:cs typeface="Georgia"/>
              </a:rPr>
              <a:t>Что доказано</a:t>
            </a:r>
            <a:endParaRPr lang="ru-RU" sz="2400"/>
          </a:p>
        </p:txBody>
      </p:sp>
      <p:sp>
        <p:nvSpPr>
          <p:cNvPr id="14" name="TextBox 14"/>
          <p:cNvSpPr txBox="1"/>
          <p:nvPr/>
        </p:nvSpPr>
        <p:spPr>
          <a:xfrm>
            <a:off x="5102352" y="3054096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111827"/>
                </a:solidFill>
                <a:latin typeface="Arial"/>
                <a:cs typeface="Arial"/>
              </a:rPr>
              <a:t>Разделение ответственности</a:t>
            </a:r>
            <a:endParaRPr lang="ru-RU" sz="1500"/>
          </a:p>
          <a:p>
            <a:pPr algn="l"/>
            <a:r>
              <a:rPr lang="ru-RU" sz="1500">
                <a:solidFill>
                  <a:srgbClr val="111827"/>
                </a:solidFill>
                <a:latin typeface="Arial"/>
                <a:cs typeface="Arial"/>
              </a:rPr>
              <a:t>Работа с API и БД</a:t>
            </a:r>
            <a:endParaRPr lang="ru-RU" sz="1500"/>
          </a:p>
          <a:p>
            <a:pPr algn="l"/>
            <a:r>
              <a:rPr lang="ru-RU" sz="1500">
                <a:solidFill>
                  <a:srgbClr val="111827"/>
                </a:solidFill>
                <a:latin typeface="Arial"/>
                <a:cs typeface="Arial"/>
              </a:rPr>
              <a:t>Типизация данных</a:t>
            </a:r>
            <a:endParaRPr lang="ru-RU" sz="1500"/>
          </a:p>
          <a:p>
            <a:pPr algn="l"/>
            <a:r>
              <a:rPr lang="ru-RU" sz="1500">
                <a:solidFill>
                  <a:srgbClr val="111827"/>
                </a:solidFill>
                <a:latin typeface="Arial"/>
                <a:cs typeface="Arial"/>
              </a:rPr>
              <a:t>Авторизация</a:t>
            </a:r>
            <a:endParaRPr lang="ru-RU" sz="1500"/>
          </a:p>
          <a:p>
            <a:pPr algn="l"/>
            <a:r>
              <a:rPr lang="ru-RU" sz="1500">
                <a:solidFill>
                  <a:srgbClr val="111827"/>
                </a:solidFill>
                <a:latin typeface="Arial"/>
                <a:cs typeface="Arial"/>
              </a:rPr>
              <a:t>Готовность к деплою</a:t>
            </a:r>
            <a:endParaRPr lang="ru-RU" sz="1500"/>
          </a:p>
        </p:txBody>
      </p:sp>
      <p:sp>
        <p:nvSpPr>
          <p:cNvPr id="15" name="Shape 15"/>
          <p:cNvSpPr/>
          <p:nvPr/>
        </p:nvSpPr>
        <p:spPr>
          <a:xfrm>
            <a:off x="8778240" y="2212848"/>
            <a:ext cx="2468880" cy="2423160"/>
          </a:xfrm>
          <a:prstGeom prst="rect">
            <a:avLst/>
          </a:prstGeom>
          <a:solidFill>
            <a:srgbClr val="FFF9F0"/>
          </a:solidFill>
          <a:ln w="9000">
            <a:solidFill>
              <a:srgbClr val="D5C8B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98280" y="250545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76B87"/>
                </a:solidFill>
                <a:latin typeface="Georgia"/>
                <a:cs typeface="Georgia"/>
              </a:rPr>
              <a:t>Дальше</a:t>
            </a:r>
            <a:endParaRPr lang="ru-RU" sz="2400"/>
          </a:p>
        </p:txBody>
      </p:sp>
      <p:sp>
        <p:nvSpPr>
          <p:cNvPr id="17" name="TextBox 17"/>
          <p:cNvSpPr txBox="1"/>
          <p:nvPr/>
        </p:nvSpPr>
        <p:spPr>
          <a:xfrm>
            <a:off x="9125712" y="3054096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111827"/>
                </a:solidFill>
                <a:latin typeface="Arial"/>
                <a:cs typeface="Arial"/>
              </a:rPr>
              <a:t>Фильтры</a:t>
            </a:r>
            <a:endParaRPr lang="ru-RU" sz="1500"/>
          </a:p>
          <a:p>
            <a:pPr algn="l"/>
            <a:r>
              <a:rPr lang="ru-RU" sz="1500">
                <a:solidFill>
                  <a:srgbClr val="111827"/>
                </a:solidFill>
                <a:latin typeface="Arial"/>
                <a:cs typeface="Arial"/>
              </a:rPr>
              <a:t>История заказов</a:t>
            </a:r>
            <a:endParaRPr lang="ru-RU" sz="1500"/>
          </a:p>
          <a:p>
            <a:pPr algn="l"/>
            <a:r>
              <a:rPr lang="ru-RU" sz="1500">
                <a:solidFill>
                  <a:srgbClr val="111827"/>
                </a:solidFill>
                <a:latin typeface="Arial"/>
                <a:cs typeface="Arial"/>
              </a:rPr>
              <a:t>Админ-панель</a:t>
            </a:r>
            <a:endParaRPr lang="ru-RU" sz="1500"/>
          </a:p>
          <a:p>
            <a:pPr algn="l"/>
            <a:r>
              <a:rPr lang="ru-RU" sz="1500">
                <a:solidFill>
                  <a:srgbClr val="111827"/>
                </a:solidFill>
                <a:latin typeface="Arial"/>
                <a:cs typeface="Arial"/>
              </a:rPr>
              <a:t>Расширенная оплата</a:t>
            </a:r>
            <a:endParaRPr lang="ru-RU" sz="1500"/>
          </a:p>
          <a:p>
            <a:pPr algn="l"/>
            <a:r>
              <a:rPr lang="ru-RU" sz="1500">
                <a:solidFill>
                  <a:srgbClr val="111827"/>
                </a:solidFill>
                <a:latin typeface="Arial"/>
                <a:cs typeface="Arial"/>
              </a:rPr>
              <a:t>Тесты</a:t>
            </a:r>
            <a:endParaRPr lang="ru-RU" sz="1500"/>
          </a:p>
        </p:txBody>
      </p:sp>
      <p:sp>
        <p:nvSpPr>
          <p:cNvPr id="18" name="Shape 18"/>
          <p:cNvSpPr/>
          <p:nvPr/>
        </p:nvSpPr>
        <p:spPr>
          <a:xfrm>
            <a:off x="749808" y="5340096"/>
            <a:ext cx="10497312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04672" y="5596128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 b="1">
                <a:solidFill>
                  <a:srgbClr val="64748B"/>
                </a:solidFill>
                <a:latin typeface="Arial"/>
                <a:cs typeface="Arial"/>
              </a:rPr>
              <a:t>Финальная фраза</a:t>
            </a:r>
            <a:endParaRPr lang="ru-RU" sz="1000"/>
          </a:p>
        </p:txBody>
      </p:sp>
      <p:sp>
        <p:nvSpPr>
          <p:cNvPr id="20" name="TextBox 20"/>
          <p:cNvSpPr txBox="1"/>
          <p:nvPr/>
        </p:nvSpPr>
        <p:spPr>
          <a:xfrm>
            <a:off x="2377440" y="5522976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111827"/>
                </a:solidFill>
                <a:latin typeface="Arial"/>
                <a:cs typeface="Arial"/>
              </a:rPr>
              <a:t>Это не отдельная страница, а учебная e-commerce система с понятной архитектурой и точками роста.</a:t>
            </a:r>
            <a:endParaRPr lang="ru-RU" sz="1700"/>
          </a:p>
        </p:txBody>
      </p:sp>
      <p:sp>
        <p:nvSpPr>
          <p:cNvPr id="21" name="Shape 21"/>
          <p:cNvSpPr/>
          <p:nvPr/>
        </p:nvSpPr>
        <p:spPr>
          <a:xfrm>
            <a:off x="548640" y="6080760"/>
            <a:ext cx="10104120" cy="18288"/>
          </a:xfrm>
          <a:prstGeom prst="rect">
            <a:avLst/>
          </a:prstGeom>
          <a:solidFill>
            <a:srgbClr val="D5C8B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48640" y="629107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4748B"/>
                </a:solidFill>
                <a:latin typeface="Arial"/>
                <a:cs typeface="Arial"/>
              </a:rPr>
              <a:t>Материалы для речи: папка «Сессия»</a:t>
            </a:r>
            <a:endParaRPr lang="ru-RU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Market">
  <a:themeElements>
    <a:clrScheme name="CloudMarket">
      <a:dk1>
        <a:srgbClr val="111827"/>
      </a:dk1>
      <a:lt1>
        <a:srgbClr val="F6F1E8"/>
      </a:lt1>
      <a:dk2>
        <a:srgbClr val="101827"/>
      </a:dk2>
      <a:lt2>
        <a:srgbClr val="FFF9F0"/>
      </a:lt2>
      <a:accent1>
        <a:srgbClr val="176B87"/>
      </a:accent1>
      <a:accent2>
        <a:srgbClr val="C47F2C"/>
      </a:accent2>
      <a:accent3>
        <a:srgbClr val="2F7D5B"/>
      </a:accent3>
      <a:accent4>
        <a:srgbClr val="64748B"/>
      </a:accent4>
      <a:accent5>
        <a:srgbClr val="D5C8B8"/>
      </a:accent5>
      <a:accent6>
        <a:srgbClr val="223044"/>
      </a:accent6>
      <a:hlink>
        <a:srgbClr val="176B87"/>
      </a:hlink>
      <a:folHlink>
        <a:srgbClr val="C47F2C"/>
      </a:folHlink>
    </a:clrScheme>
    <a:fontScheme name="CloudMarket">
      <a:majorFont>
        <a:latin typeface="Georgia"/>
        <a:cs typeface="Georgia"/>
      </a:majorFont>
      <a:minorFont>
        <a:latin typeface="Arial"/>
        <a:cs typeface="Arial"/>
      </a:minorFont>
    </a:fontScheme>
    <a:fmtScheme name="CloudMarke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</PresentationFormat>
  <Slides>8</Slides>
  <Company>CloudMarket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CloudMarket session presentation</dc:title>
  <dc:creator>Codex</dc:creator>
  <cp:lastModifiedBy>Codex</cp:lastModifiedBy>
  <dcterms:created xsi:type="dcterms:W3CDTF">2026-05-20T00:00:00Z</dcterms:created>
  <dcterms:modified xsi:type="dcterms:W3CDTF">2026-05-20T00:00:00Z</dcterms:modified>
</cp:coreProperties>
</file>